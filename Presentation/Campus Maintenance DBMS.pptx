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venir Medium" charset="1" panose="020B0603020203020204"/>
      <p:regular r:id="rId15"/>
    </p:embeddedFont>
    <p:embeddedFont>
      <p:font typeface="Avenir" charset="1" panose="020B0503020203020204"/>
      <p:regular r:id="rId16"/>
    </p:embeddedFont>
    <p:embeddedFont>
      <p:font typeface="Avenir Bold" charset="1" panose="020B0703020203020204"/>
      <p:regular r:id="rId17"/>
    </p:embeddedFont>
    <p:embeddedFont>
      <p:font typeface="DM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23.png" Type="http://schemas.openxmlformats.org/officeDocument/2006/relationships/image"/><Relationship Id="rId20" Target="../media/image41.png" Type="http://schemas.openxmlformats.org/officeDocument/2006/relationships/image"/><Relationship Id="rId21" Target="../media/image42.png" Type="http://schemas.openxmlformats.org/officeDocument/2006/relationships/image"/><Relationship Id="rId22" Target="../media/image43.png" Type="http://schemas.openxmlformats.org/officeDocument/2006/relationships/image"/><Relationship Id="rId23" Target="../media/image44.png" Type="http://schemas.openxmlformats.org/officeDocument/2006/relationships/image"/><Relationship Id="rId24" Target="../media/image45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13" Target="../media/image57.png" Type="http://schemas.openxmlformats.org/officeDocument/2006/relationships/image"/><Relationship Id="rId14" Target="../media/image58.png" Type="http://schemas.openxmlformats.org/officeDocument/2006/relationships/image"/><Relationship Id="rId15" Target="../media/image59.png" Type="http://schemas.openxmlformats.org/officeDocument/2006/relationships/image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14" Target="../media/image72.png" Type="http://schemas.openxmlformats.org/officeDocument/2006/relationships/image"/><Relationship Id="rId15" Target="../media/image73.png" Type="http://schemas.openxmlformats.org/officeDocument/2006/relationships/image"/><Relationship Id="rId16" Target="../media/image74.png" Type="http://schemas.openxmlformats.org/officeDocument/2006/relationships/image"/><Relationship Id="rId17" Target="../media/image75.png" Type="http://schemas.openxmlformats.org/officeDocument/2006/relationships/image"/><Relationship Id="rId18" Target="../media/image76.png" Type="http://schemas.openxmlformats.org/officeDocument/2006/relationships/image"/><Relationship Id="rId19" Target="../media/image77.png" Type="http://schemas.openxmlformats.org/officeDocument/2006/relationships/image"/><Relationship Id="rId2" Target="../media/image60.png" Type="http://schemas.openxmlformats.org/officeDocument/2006/relationships/image"/><Relationship Id="rId20" Target="../media/image78.png" Type="http://schemas.openxmlformats.org/officeDocument/2006/relationships/image"/><Relationship Id="rId21" Target="../media/image79.png" Type="http://schemas.openxmlformats.org/officeDocument/2006/relationships/image"/><Relationship Id="rId22" Target="../media/image80.png" Type="http://schemas.openxmlformats.org/officeDocument/2006/relationships/image"/><Relationship Id="rId23" Target="../media/image81.png" Type="http://schemas.openxmlformats.org/officeDocument/2006/relationships/image"/><Relationship Id="rId24" Target="../media/image82.png" Type="http://schemas.openxmlformats.org/officeDocument/2006/relationships/image"/><Relationship Id="rId25" Target="../media/image83.png" Type="http://schemas.openxmlformats.org/officeDocument/2006/relationships/image"/><Relationship Id="rId26" Target="../media/image84.png" Type="http://schemas.openxmlformats.org/officeDocument/2006/relationships/image"/><Relationship Id="rId27" Target="../media/image85.png" Type="http://schemas.openxmlformats.org/officeDocument/2006/relationships/image"/><Relationship Id="rId28" Target="../media/image86.png" Type="http://schemas.openxmlformats.org/officeDocument/2006/relationships/image"/><Relationship Id="rId29" Target="../media/image87.png" Type="http://schemas.openxmlformats.org/officeDocument/2006/relationships/image"/><Relationship Id="rId3" Target="../media/image61.png" Type="http://schemas.openxmlformats.org/officeDocument/2006/relationships/image"/><Relationship Id="rId30" Target="../media/image88.png" Type="http://schemas.openxmlformats.org/officeDocument/2006/relationships/image"/><Relationship Id="rId31" Target="../media/image89.png" Type="http://schemas.openxmlformats.org/officeDocument/2006/relationships/image"/><Relationship Id="rId32" Target="../media/image90.png" Type="http://schemas.openxmlformats.org/officeDocument/2006/relationships/image"/><Relationship Id="rId33" Target="../media/image91.png" Type="http://schemas.openxmlformats.org/officeDocument/2006/relationships/image"/><Relationship Id="rId34" Target="../media/image92.png" Type="http://schemas.openxmlformats.org/officeDocument/2006/relationships/image"/><Relationship Id="rId35" Target="../media/image93.png" Type="http://schemas.openxmlformats.org/officeDocument/2006/relationships/image"/><Relationship Id="rId36" Target="../media/image94.png" Type="http://schemas.openxmlformats.org/officeDocument/2006/relationships/image"/><Relationship Id="rId37" Target="../media/image95.png" Type="http://schemas.openxmlformats.org/officeDocument/2006/relationships/image"/><Relationship Id="rId38" Target="../media/image96.png" Type="http://schemas.openxmlformats.org/officeDocument/2006/relationships/image"/><Relationship Id="rId39" Target="../media/image97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png" Type="http://schemas.openxmlformats.org/officeDocument/2006/relationships/image"/><Relationship Id="rId11" Target="../media/image107.png" Type="http://schemas.openxmlformats.org/officeDocument/2006/relationships/image"/><Relationship Id="rId12" Target="../media/image108.png" Type="http://schemas.openxmlformats.org/officeDocument/2006/relationships/image"/><Relationship Id="rId13" Target="../media/image109.png" Type="http://schemas.openxmlformats.org/officeDocument/2006/relationships/image"/><Relationship Id="rId14" Target="../media/image110.png" Type="http://schemas.openxmlformats.org/officeDocument/2006/relationships/image"/><Relationship Id="rId15" Target="../media/image111.png" Type="http://schemas.openxmlformats.org/officeDocument/2006/relationships/image"/><Relationship Id="rId16" Target="../media/image112.png" Type="http://schemas.openxmlformats.org/officeDocument/2006/relationships/image"/><Relationship Id="rId17" Target="../media/image113.png" Type="http://schemas.openxmlformats.org/officeDocument/2006/relationships/image"/><Relationship Id="rId18" Target="../media/image114.png" Type="http://schemas.openxmlformats.org/officeDocument/2006/relationships/image"/><Relationship Id="rId19" Target="../media/image115.png" Type="http://schemas.openxmlformats.org/officeDocument/2006/relationships/image"/><Relationship Id="rId2" Target="../media/image98.png" Type="http://schemas.openxmlformats.org/officeDocument/2006/relationships/image"/><Relationship Id="rId20" Target="../media/image116.png" Type="http://schemas.openxmlformats.org/officeDocument/2006/relationships/image"/><Relationship Id="rId21" Target="../media/image117.png" Type="http://schemas.openxmlformats.org/officeDocument/2006/relationships/image"/><Relationship Id="rId22" Target="../media/image118.png" Type="http://schemas.openxmlformats.org/officeDocument/2006/relationships/image"/><Relationship Id="rId23" Target="../media/image119.png" Type="http://schemas.openxmlformats.org/officeDocument/2006/relationships/image"/><Relationship Id="rId24" Target="../media/image120.png" Type="http://schemas.openxmlformats.org/officeDocument/2006/relationships/image"/><Relationship Id="rId25" Target="../media/image121.png" Type="http://schemas.openxmlformats.org/officeDocument/2006/relationships/image"/><Relationship Id="rId26" Target="../media/image122.png" Type="http://schemas.openxmlformats.org/officeDocument/2006/relationships/image"/><Relationship Id="rId27" Target="../media/image123.png" Type="http://schemas.openxmlformats.org/officeDocument/2006/relationships/image"/><Relationship Id="rId28" Target="../media/image124.png" Type="http://schemas.openxmlformats.org/officeDocument/2006/relationships/image"/><Relationship Id="rId29" Target="../media/image125.png" Type="http://schemas.openxmlformats.org/officeDocument/2006/relationships/image"/><Relationship Id="rId3" Target="../media/image99.png" Type="http://schemas.openxmlformats.org/officeDocument/2006/relationships/image"/><Relationship Id="rId30" Target="../media/image126.png" Type="http://schemas.openxmlformats.org/officeDocument/2006/relationships/image"/><Relationship Id="rId31" Target="../media/image127.png" Type="http://schemas.openxmlformats.org/officeDocument/2006/relationships/image"/><Relationship Id="rId32" Target="../media/image128.png" Type="http://schemas.openxmlformats.org/officeDocument/2006/relationships/image"/><Relationship Id="rId33" Target="../media/image129.png" Type="http://schemas.openxmlformats.org/officeDocument/2006/relationships/image"/><Relationship Id="rId34" Target="../media/image130.png" Type="http://schemas.openxmlformats.org/officeDocument/2006/relationships/image"/><Relationship Id="rId35" Target="../media/image131.png" Type="http://schemas.openxmlformats.org/officeDocument/2006/relationships/image"/><Relationship Id="rId36" Target="../media/image132.png" Type="http://schemas.openxmlformats.org/officeDocument/2006/relationships/image"/><Relationship Id="rId37" Target="../media/image133.png" Type="http://schemas.openxmlformats.org/officeDocument/2006/relationships/image"/><Relationship Id="rId38" Target="../media/image134.png" Type="http://schemas.openxmlformats.org/officeDocument/2006/relationships/image"/><Relationship Id="rId39" Target="../media/image135.png" Type="http://schemas.openxmlformats.org/officeDocument/2006/relationships/image"/><Relationship Id="rId4" Target="../media/image100.png" Type="http://schemas.openxmlformats.org/officeDocument/2006/relationships/image"/><Relationship Id="rId40" Target="../media/image136.png" Type="http://schemas.openxmlformats.org/officeDocument/2006/relationships/image"/><Relationship Id="rId41" Target="../media/image137.png" Type="http://schemas.openxmlformats.org/officeDocument/2006/relationships/image"/><Relationship Id="rId42" Target="../media/image138.png" Type="http://schemas.openxmlformats.org/officeDocument/2006/relationships/image"/><Relationship Id="rId43" Target="../media/image139.png" Type="http://schemas.openxmlformats.org/officeDocument/2006/relationships/image"/><Relationship Id="rId44" Target="../media/image140.png" Type="http://schemas.openxmlformats.org/officeDocument/2006/relationships/image"/><Relationship Id="rId45" Target="../media/image141.png" Type="http://schemas.openxmlformats.org/officeDocument/2006/relationships/image"/><Relationship Id="rId46" Target="../media/image142.png" Type="http://schemas.openxmlformats.org/officeDocument/2006/relationships/image"/><Relationship Id="rId47" Target="../media/image143.png" Type="http://schemas.openxmlformats.org/officeDocument/2006/relationships/image"/><Relationship Id="rId48" Target="../media/image144.png" Type="http://schemas.openxmlformats.org/officeDocument/2006/relationships/image"/><Relationship Id="rId49" Target="../media/image145.png" Type="http://schemas.openxmlformats.org/officeDocument/2006/relationships/image"/><Relationship Id="rId5" Target="../media/image101.png" Type="http://schemas.openxmlformats.org/officeDocument/2006/relationships/image"/><Relationship Id="rId50" Target="../media/image146.png" Type="http://schemas.openxmlformats.org/officeDocument/2006/relationships/image"/><Relationship Id="rId51" Target="../media/image147.png" Type="http://schemas.openxmlformats.org/officeDocument/2006/relationships/image"/><Relationship Id="rId6" Target="../media/image102.png" Type="http://schemas.openxmlformats.org/officeDocument/2006/relationships/image"/><Relationship Id="rId7" Target="../media/image103.png" Type="http://schemas.openxmlformats.org/officeDocument/2006/relationships/image"/><Relationship Id="rId8" Target="../media/image104.pn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6.png" Type="http://schemas.openxmlformats.org/officeDocument/2006/relationships/image"/><Relationship Id="rId2" Target="../media/image148.png" Type="http://schemas.openxmlformats.org/officeDocument/2006/relationships/image"/><Relationship Id="rId3" Target="../media/image149.png" Type="http://schemas.openxmlformats.org/officeDocument/2006/relationships/image"/><Relationship Id="rId4" Target="../media/image150.png" Type="http://schemas.openxmlformats.org/officeDocument/2006/relationships/image"/><Relationship Id="rId5" Target="../media/image151.png" Type="http://schemas.openxmlformats.org/officeDocument/2006/relationships/image"/><Relationship Id="rId6" Target="../media/image152.png" Type="http://schemas.openxmlformats.org/officeDocument/2006/relationships/image"/><Relationship Id="rId7" Target="../media/image153.png" Type="http://schemas.openxmlformats.org/officeDocument/2006/relationships/image"/><Relationship Id="rId8" Target="../media/image154.png" Type="http://schemas.openxmlformats.org/officeDocument/2006/relationships/image"/><Relationship Id="rId9" Target="../media/image15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5.png" Type="http://schemas.openxmlformats.org/officeDocument/2006/relationships/image"/><Relationship Id="rId11" Target="../media/image166.png" Type="http://schemas.openxmlformats.org/officeDocument/2006/relationships/image"/><Relationship Id="rId12" Target="../media/image167.png" Type="http://schemas.openxmlformats.org/officeDocument/2006/relationships/image"/><Relationship Id="rId13" Target="../media/image168.png" Type="http://schemas.openxmlformats.org/officeDocument/2006/relationships/image"/><Relationship Id="rId14" Target="../media/image169.png" Type="http://schemas.openxmlformats.org/officeDocument/2006/relationships/image"/><Relationship Id="rId15" Target="../media/image170.png" Type="http://schemas.openxmlformats.org/officeDocument/2006/relationships/image"/><Relationship Id="rId16" Target="../media/image171.png" Type="http://schemas.openxmlformats.org/officeDocument/2006/relationships/image"/><Relationship Id="rId17" Target="../media/image172.png" Type="http://schemas.openxmlformats.org/officeDocument/2006/relationships/image"/><Relationship Id="rId18" Target="../media/image173.png" Type="http://schemas.openxmlformats.org/officeDocument/2006/relationships/image"/><Relationship Id="rId2" Target="../media/image157.png" Type="http://schemas.openxmlformats.org/officeDocument/2006/relationships/image"/><Relationship Id="rId3" Target="../media/image158.png" Type="http://schemas.openxmlformats.org/officeDocument/2006/relationships/image"/><Relationship Id="rId4" Target="../media/image159.png" Type="http://schemas.openxmlformats.org/officeDocument/2006/relationships/image"/><Relationship Id="rId5" Target="../media/image160.png" Type="http://schemas.openxmlformats.org/officeDocument/2006/relationships/image"/><Relationship Id="rId6" Target="../media/image161.png" Type="http://schemas.openxmlformats.org/officeDocument/2006/relationships/image"/><Relationship Id="rId7" Target="../media/image162.png" Type="http://schemas.openxmlformats.org/officeDocument/2006/relationships/image"/><Relationship Id="rId8" Target="../media/image163.png" Type="http://schemas.openxmlformats.org/officeDocument/2006/relationships/image"/><Relationship Id="rId9" Target="../media/image16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2.png" Type="http://schemas.openxmlformats.org/officeDocument/2006/relationships/image"/><Relationship Id="rId11" Target="../media/image183.png" Type="http://schemas.openxmlformats.org/officeDocument/2006/relationships/image"/><Relationship Id="rId12" Target="../media/image184.png" Type="http://schemas.openxmlformats.org/officeDocument/2006/relationships/image"/><Relationship Id="rId13" Target="../media/image185.png" Type="http://schemas.openxmlformats.org/officeDocument/2006/relationships/image"/><Relationship Id="rId14" Target="../media/image186.png" Type="http://schemas.openxmlformats.org/officeDocument/2006/relationships/image"/><Relationship Id="rId15" Target="../media/image187.png" Type="http://schemas.openxmlformats.org/officeDocument/2006/relationships/image"/><Relationship Id="rId16" Target="../media/image188.png" Type="http://schemas.openxmlformats.org/officeDocument/2006/relationships/image"/><Relationship Id="rId17" Target="../media/image189.png" Type="http://schemas.openxmlformats.org/officeDocument/2006/relationships/image"/><Relationship Id="rId18" Target="../media/image190.png" Type="http://schemas.openxmlformats.org/officeDocument/2006/relationships/image"/><Relationship Id="rId19" Target="../media/image191.png" Type="http://schemas.openxmlformats.org/officeDocument/2006/relationships/image"/><Relationship Id="rId2" Target="../media/image174.png" Type="http://schemas.openxmlformats.org/officeDocument/2006/relationships/image"/><Relationship Id="rId3" Target="../media/image175.png" Type="http://schemas.openxmlformats.org/officeDocument/2006/relationships/image"/><Relationship Id="rId4" Target="../media/image176.png" Type="http://schemas.openxmlformats.org/officeDocument/2006/relationships/image"/><Relationship Id="rId5" Target="../media/image177.png" Type="http://schemas.openxmlformats.org/officeDocument/2006/relationships/image"/><Relationship Id="rId6" Target="../media/image178.png" Type="http://schemas.openxmlformats.org/officeDocument/2006/relationships/image"/><Relationship Id="rId7" Target="../media/image179.png" Type="http://schemas.openxmlformats.org/officeDocument/2006/relationships/image"/><Relationship Id="rId8" Target="../media/image180.png" Type="http://schemas.openxmlformats.org/officeDocument/2006/relationships/image"/><Relationship Id="rId9" Target="../media/image18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426348"/>
            <a:ext cx="229694" cy="6012593"/>
          </a:xfrm>
          <a:custGeom>
            <a:avLst/>
            <a:gdLst/>
            <a:ahLst/>
            <a:cxnLst/>
            <a:rect r="r" b="b" t="t" l="l"/>
            <a:pathLst>
              <a:path h="6012593" w="229694">
                <a:moveTo>
                  <a:pt x="0" y="0"/>
                </a:moveTo>
                <a:lnTo>
                  <a:pt x="229694" y="0"/>
                </a:lnTo>
                <a:lnTo>
                  <a:pt x="229694" y="6012592"/>
                </a:lnTo>
                <a:lnTo>
                  <a:pt x="0" y="6012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1191" y="1526075"/>
            <a:ext cx="9716091" cy="3047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9"/>
              </a:lnSpc>
            </a:pPr>
            <a:r>
              <a:rPr lang="en-US" b="true" sz="6423" spc="128">
                <a:solidFill>
                  <a:srgbClr val="272727"/>
                </a:solidFill>
                <a:latin typeface="Avenir Medium"/>
                <a:ea typeface="Avenir Medium"/>
                <a:cs typeface="Avenir Medium"/>
                <a:sym typeface="Avenir Medium"/>
              </a:rPr>
              <a:t>CAMPUS FACILITY MAINTENANCE MANAGEMENT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82842" y="4919394"/>
            <a:ext cx="2406316" cy="229572"/>
          </a:xfrm>
          <a:custGeom>
            <a:avLst/>
            <a:gdLst/>
            <a:ahLst/>
            <a:cxnLst/>
            <a:rect r="r" b="b" t="t" l="l"/>
            <a:pathLst>
              <a:path h="229572" w="2406316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9317" y="5391032"/>
            <a:ext cx="7582315" cy="111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3102">
                <a:solidFill>
                  <a:srgbClr val="393939"/>
                </a:solidFill>
                <a:latin typeface="Avenir"/>
                <a:ea typeface="Avenir"/>
                <a:cs typeface="Avenir"/>
                <a:sym typeface="Avenir"/>
              </a:rPr>
              <a:t>A Database-Driven Web Application for</a:t>
            </a:r>
          </a:p>
          <a:p>
            <a:pPr algn="l">
              <a:lnSpc>
                <a:spcPts val="4343"/>
              </a:lnSpc>
            </a:pPr>
            <a:r>
              <a:rPr lang="en-US" sz="3102">
                <a:solidFill>
                  <a:srgbClr val="393939"/>
                </a:solidFill>
                <a:latin typeface="Avenir"/>
                <a:ea typeface="Avenir"/>
                <a:cs typeface="Avenir"/>
                <a:sym typeface="Avenir"/>
              </a:rPr>
              <a:t>Managing Campus Maintenance Requests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4688" y="7460942"/>
            <a:ext cx="3045260" cy="77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true">
                <a:solidFill>
                  <a:srgbClr val="968268"/>
                </a:solidFill>
                <a:latin typeface="Avenir Medium"/>
                <a:ea typeface="Avenir Medium"/>
                <a:cs typeface="Avenir Medium"/>
                <a:sym typeface="Avenir Medium"/>
              </a:rPr>
              <a:t>DBMS Course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5719" y="8289289"/>
            <a:ext cx="6942140" cy="41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true">
                <a:solidFill>
                  <a:srgbClr val="393939"/>
                </a:solidFill>
                <a:latin typeface="Avenir Medium"/>
                <a:ea typeface="Avenir Medium"/>
                <a:cs typeface="Avenir Medium"/>
                <a:sym typeface="Avenir Medium"/>
              </a:rPr>
              <a:t>Pranav Arjun Nikam • Purva • Sharanya • Saathvik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101866" y="852695"/>
            <a:ext cx="6322048" cy="3651284"/>
          </a:xfrm>
          <a:custGeom>
            <a:avLst/>
            <a:gdLst/>
            <a:ahLst/>
            <a:cxnLst/>
            <a:rect r="r" b="b" t="t" l="l"/>
            <a:pathLst>
              <a:path h="3651284" w="6322048">
                <a:moveTo>
                  <a:pt x="0" y="0"/>
                </a:moveTo>
                <a:lnTo>
                  <a:pt x="6322048" y="0"/>
                </a:lnTo>
                <a:lnTo>
                  <a:pt x="6322048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42574" y="4493047"/>
            <a:ext cx="448450" cy="874559"/>
          </a:xfrm>
          <a:custGeom>
            <a:avLst/>
            <a:gdLst/>
            <a:ahLst/>
            <a:cxnLst/>
            <a:rect r="r" b="b" t="t" l="l"/>
            <a:pathLst>
              <a:path h="874559" w="448450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97244" y="5138034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42574" y="6635716"/>
            <a:ext cx="448450" cy="874559"/>
          </a:xfrm>
          <a:custGeom>
            <a:avLst/>
            <a:gdLst/>
            <a:ahLst/>
            <a:cxnLst/>
            <a:rect r="r" b="b" t="t" l="l"/>
            <a:pathLst>
              <a:path h="874559" w="448450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497244" y="7499343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94688" y="8760524"/>
            <a:ext cx="6942140" cy="41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true">
                <a:solidFill>
                  <a:srgbClr val="393939"/>
                </a:solidFill>
                <a:latin typeface="Avenir Medium"/>
                <a:ea typeface="Avenir Medium"/>
                <a:cs typeface="Avenir Medium"/>
                <a:sym typeface="Avenir Medium"/>
              </a:rPr>
              <a:t>Dr. Kiran Mayee Adavala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0669" y="438629"/>
            <a:ext cx="6803008" cy="117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7"/>
              </a:lnSpc>
            </a:pPr>
            <a:r>
              <a:rPr lang="en-US" sz="7264" b="true">
                <a:solidFill>
                  <a:srgbClr val="333333"/>
                </a:solidFill>
                <a:latin typeface="Avenir Bold"/>
                <a:ea typeface="Avenir Bold"/>
                <a:cs typeface="Avenir Bold"/>
                <a:sym typeface="Avenir Bold"/>
              </a:rPr>
              <a:t>THE PROBLEM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1497682"/>
            <a:ext cx="6540804" cy="218640"/>
          </a:xfrm>
          <a:custGeom>
            <a:avLst/>
            <a:gdLst/>
            <a:ahLst/>
            <a:cxnLst/>
            <a:rect r="r" b="b" t="t" l="l"/>
            <a:pathLst>
              <a:path h="218640" w="6540804">
                <a:moveTo>
                  <a:pt x="0" y="0"/>
                </a:moveTo>
                <a:lnTo>
                  <a:pt x="6540804" y="0"/>
                </a:lnTo>
                <a:lnTo>
                  <a:pt x="6540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6495" y="1886678"/>
            <a:ext cx="13754363" cy="112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8"/>
              </a:lnSpc>
            </a:pPr>
            <a:r>
              <a:rPr lang="en-US" sz="3537" spc="-34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Maintenance requests are difficult to manage when information is scattered across people, messages and manual records.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24021" y="3724501"/>
            <a:ext cx="1606593" cy="38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399">
                <a:solidFill>
                  <a:srgbClr val="333333"/>
                </a:solidFill>
                <a:latin typeface="Avenir Bold"/>
                <a:ea typeface="Avenir Bold"/>
                <a:cs typeface="Avenir Bold"/>
                <a:sym typeface="Avenir Bold"/>
              </a:rPr>
              <a:t>REQUEST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696976" y="4066699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99422" y="4914308"/>
            <a:ext cx="4421752" cy="38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399">
                <a:solidFill>
                  <a:srgbClr val="333333"/>
                </a:solidFill>
                <a:latin typeface="Avenir Bold"/>
                <a:ea typeface="Avenir Bold"/>
                <a:cs typeface="Avenir Bold"/>
                <a:sym typeface="Avenir Bold"/>
              </a:rPr>
              <a:t>MANUAL COMMUNICATION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96976" y="5356674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84981" y="6104114"/>
            <a:ext cx="2108884" cy="38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399">
                <a:solidFill>
                  <a:srgbClr val="333333"/>
                </a:solidFill>
                <a:latin typeface="Avenir Bold"/>
                <a:ea typeface="Avenir Bold"/>
                <a:cs typeface="Avenir Bold"/>
                <a:sym typeface="Avenir Bold"/>
              </a:rPr>
              <a:t>TECHNICIAN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696976" y="6428009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65172" y="7354164"/>
            <a:ext cx="1085251" cy="38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399">
                <a:solidFill>
                  <a:srgbClr val="333333"/>
                </a:solidFill>
                <a:latin typeface="Avenir Bold"/>
                <a:ea typeface="Avenir Bold"/>
                <a:cs typeface="Avenir Bold"/>
                <a:sym typeface="Avenir Bold"/>
              </a:rPr>
              <a:t>REPAIR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696976" y="7707051"/>
            <a:ext cx="448450" cy="874559"/>
          </a:xfrm>
          <a:custGeom>
            <a:avLst/>
            <a:gdLst/>
            <a:ahLst/>
            <a:cxnLst/>
            <a:rect r="r" b="b" t="t" l="l"/>
            <a:pathLst>
              <a:path h="874559" w="448450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75196" y="3640352"/>
            <a:ext cx="229694" cy="6012593"/>
          </a:xfrm>
          <a:custGeom>
            <a:avLst/>
            <a:gdLst/>
            <a:ahLst/>
            <a:cxnLst/>
            <a:rect r="r" b="b" t="t" l="l"/>
            <a:pathLst>
              <a:path h="6012593" w="229694">
                <a:moveTo>
                  <a:pt x="0" y="0"/>
                </a:moveTo>
                <a:lnTo>
                  <a:pt x="229694" y="0"/>
                </a:lnTo>
                <a:lnTo>
                  <a:pt x="229694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50220" y="3640352"/>
            <a:ext cx="1093780" cy="1289974"/>
          </a:xfrm>
          <a:custGeom>
            <a:avLst/>
            <a:gdLst/>
            <a:ahLst/>
            <a:cxnLst/>
            <a:rect r="r" b="b" t="t" l="l"/>
            <a:pathLst>
              <a:path h="1289974" w="1093780">
                <a:moveTo>
                  <a:pt x="0" y="0"/>
                </a:moveTo>
                <a:lnTo>
                  <a:pt x="1093780" y="0"/>
                </a:lnTo>
                <a:lnTo>
                  <a:pt x="109378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53915" y="3961450"/>
            <a:ext cx="670486" cy="63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2"/>
              </a:lnSpc>
            </a:pPr>
            <a:r>
              <a:rPr lang="en-US" b="true" sz="3939">
                <a:solidFill>
                  <a:srgbClr val="BD966D"/>
                </a:solidFill>
                <a:latin typeface="Avenir Bold"/>
                <a:ea typeface="Avenir Bold"/>
                <a:cs typeface="Avenir Bold"/>
                <a:sym typeface="Avenir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63104" y="4110034"/>
            <a:ext cx="4701288" cy="41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4D4D4D"/>
                </a:solidFill>
                <a:latin typeface="DM Sans"/>
                <a:ea typeface="DM Sans"/>
                <a:cs typeface="DM Sans"/>
                <a:sym typeface="DM Sans"/>
              </a:rPr>
              <a:t>Requests are difficult to track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050220" y="4919394"/>
            <a:ext cx="8717426" cy="229572"/>
          </a:xfrm>
          <a:custGeom>
            <a:avLst/>
            <a:gdLst/>
            <a:ahLst/>
            <a:cxnLst/>
            <a:rect r="r" b="b" t="t" l="l"/>
            <a:pathLst>
              <a:path h="229572" w="8717426">
                <a:moveTo>
                  <a:pt x="0" y="0"/>
                </a:moveTo>
                <a:lnTo>
                  <a:pt x="8717426" y="0"/>
                </a:lnTo>
                <a:lnTo>
                  <a:pt x="8717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50220" y="5356674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253915" y="5542838"/>
            <a:ext cx="670486" cy="63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2"/>
              </a:lnSpc>
            </a:pPr>
            <a:r>
              <a:rPr lang="en-US" b="true" sz="3939">
                <a:solidFill>
                  <a:srgbClr val="BD966D"/>
                </a:solidFill>
                <a:latin typeface="Avenir Bold"/>
                <a:ea typeface="Avenir Bold"/>
                <a:cs typeface="Avenir Bold"/>
                <a:sym typeface="Avenir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45627" y="5676361"/>
            <a:ext cx="6448988" cy="41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4D4D4D"/>
                </a:solidFill>
                <a:latin typeface="DM Sans"/>
                <a:ea typeface="DM Sans"/>
                <a:cs typeface="DM Sans"/>
                <a:sym typeface="DM Sans"/>
              </a:rPr>
              <a:t>Technician assignment is not centralized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050220" y="6428009"/>
            <a:ext cx="8717426" cy="437279"/>
          </a:xfrm>
          <a:custGeom>
            <a:avLst/>
            <a:gdLst/>
            <a:ahLst/>
            <a:cxnLst/>
            <a:rect r="r" b="b" t="t" l="l"/>
            <a:pathLst>
              <a:path h="437279" w="8717426">
                <a:moveTo>
                  <a:pt x="0" y="0"/>
                </a:moveTo>
                <a:lnTo>
                  <a:pt x="8717426" y="0"/>
                </a:lnTo>
                <a:lnTo>
                  <a:pt x="871742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050220" y="6854356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253915" y="7124226"/>
            <a:ext cx="670486" cy="63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2"/>
              </a:lnSpc>
            </a:pPr>
            <a:r>
              <a:rPr lang="en-US" b="true" sz="3939">
                <a:solidFill>
                  <a:srgbClr val="BD966D"/>
                </a:solidFill>
                <a:latin typeface="Avenir Bold"/>
                <a:ea typeface="Avenir Bold"/>
                <a:cs typeface="Avenir Bold"/>
                <a:sym typeface="Avenir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45495" y="7257750"/>
            <a:ext cx="6462224" cy="41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4D4D4D"/>
                </a:solidFill>
                <a:latin typeface="DM Sans"/>
                <a:ea typeface="DM Sans"/>
                <a:cs typeface="DM Sans"/>
                <a:sym typeface="DM Sans"/>
              </a:rPr>
              <a:t>Work and material records are scattered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050220" y="8133399"/>
            <a:ext cx="8717426" cy="229572"/>
          </a:xfrm>
          <a:custGeom>
            <a:avLst/>
            <a:gdLst/>
            <a:ahLst/>
            <a:cxnLst/>
            <a:rect r="r" b="b" t="t" l="l"/>
            <a:pathLst>
              <a:path h="229572" w="8717426">
                <a:moveTo>
                  <a:pt x="0" y="0"/>
                </a:moveTo>
                <a:lnTo>
                  <a:pt x="8717426" y="0"/>
                </a:lnTo>
                <a:lnTo>
                  <a:pt x="871742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050220" y="8352038"/>
            <a:ext cx="1093780" cy="1300906"/>
          </a:xfrm>
          <a:custGeom>
            <a:avLst/>
            <a:gdLst/>
            <a:ahLst/>
            <a:cxnLst/>
            <a:rect r="r" b="b" t="t" l="l"/>
            <a:pathLst>
              <a:path h="1300906" w="1093780">
                <a:moveTo>
                  <a:pt x="0" y="0"/>
                </a:moveTo>
                <a:lnTo>
                  <a:pt x="1093780" y="0"/>
                </a:lnTo>
                <a:lnTo>
                  <a:pt x="109378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253915" y="8690554"/>
            <a:ext cx="670486" cy="63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2"/>
              </a:lnSpc>
            </a:pPr>
            <a:r>
              <a:rPr lang="en-US" b="true" sz="3939">
                <a:solidFill>
                  <a:srgbClr val="BD966D"/>
                </a:solidFill>
                <a:latin typeface="Avenir Bold"/>
                <a:ea typeface="Avenir Bold"/>
                <a:cs typeface="Avenir Bold"/>
                <a:sym typeface="Avenir Bold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65936" y="8793955"/>
            <a:ext cx="4418154" cy="41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4D4D4D"/>
                </a:solidFill>
                <a:latin typeface="DM Sans"/>
                <a:ea typeface="DM Sans"/>
                <a:cs typeface="DM Sans"/>
                <a:sym typeface="DM Sans"/>
              </a:rPr>
              <a:t>Reporting becomes difficult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13429" y="8709640"/>
            <a:ext cx="3072237" cy="38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399">
                <a:solidFill>
                  <a:srgbClr val="333333"/>
                </a:solidFill>
                <a:latin typeface="Avenir Bold"/>
                <a:ea typeface="Avenir Bold"/>
                <a:cs typeface="Avenir Bold"/>
                <a:sym typeface="Avenir Bold"/>
              </a:rPr>
              <a:t>UNCLEAR HISTORY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02487" y="703265"/>
            <a:ext cx="15180357" cy="126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2"/>
              </a:lnSpc>
            </a:pPr>
            <a:r>
              <a:rPr lang="en-US" sz="7492" b="true">
                <a:solidFill>
                  <a:srgbClr val="2B2B2B"/>
                </a:solidFill>
                <a:latin typeface="Avenir Bold"/>
                <a:ea typeface="Avenir Bold"/>
                <a:cs typeface="Avenir Bold"/>
                <a:sym typeface="Avenir Bold"/>
              </a:rPr>
              <a:t>ONE SYSTEM. ONE WORKFLOW.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1924030"/>
            <a:ext cx="14164450" cy="229572"/>
          </a:xfrm>
          <a:custGeom>
            <a:avLst/>
            <a:gdLst/>
            <a:ahLst/>
            <a:cxnLst/>
            <a:rect r="r" b="b" t="t" l="l"/>
            <a:pathLst>
              <a:path h="229572" w="14164450">
                <a:moveTo>
                  <a:pt x="0" y="0"/>
                </a:moveTo>
                <a:lnTo>
                  <a:pt x="14164450" y="0"/>
                </a:lnTo>
                <a:lnTo>
                  <a:pt x="14164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6708" y="2470617"/>
            <a:ext cx="9806577" cy="141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3893">
                <a:solidFill>
                  <a:srgbClr val="2B2B2B"/>
                </a:solidFill>
                <a:latin typeface="Avenir"/>
                <a:ea typeface="Avenir"/>
                <a:cs typeface="Avenir"/>
                <a:sym typeface="Avenir"/>
              </a:rPr>
              <a:t>A centralized database-driven platform for the complete maintenance lifecycle.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919394"/>
            <a:ext cx="2187560" cy="1945894"/>
          </a:xfrm>
          <a:custGeom>
            <a:avLst/>
            <a:gdLst/>
            <a:ahLst/>
            <a:cxnLst/>
            <a:rect r="r" b="b" t="t" l="l"/>
            <a:pathLst>
              <a:path h="1945894" w="2187560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44773" y="5444480"/>
            <a:ext cx="1393031" cy="75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b="true" sz="2254">
                <a:solidFill>
                  <a:srgbClr val="2B2B2B"/>
                </a:solidFill>
                <a:latin typeface="Avenir Bold"/>
                <a:ea typeface="Avenir Bold"/>
                <a:cs typeface="Avenir Bold"/>
                <a:sym typeface="Avenir Bold"/>
              </a:rPr>
              <a:t>CREATE REQUEST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03196" y="556438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40708" y="4919394"/>
            <a:ext cx="2406316" cy="1945894"/>
          </a:xfrm>
          <a:custGeom>
            <a:avLst/>
            <a:gdLst/>
            <a:ahLst/>
            <a:cxnLst/>
            <a:rect r="r" b="b" t="t" l="l"/>
            <a:pathLst>
              <a:path h="1945894" w="2406316">
                <a:moveTo>
                  <a:pt x="0" y="0"/>
                </a:moveTo>
                <a:lnTo>
                  <a:pt x="2406316" y="0"/>
                </a:lnTo>
                <a:lnTo>
                  <a:pt x="240631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29000" y="5600387"/>
            <a:ext cx="1687711" cy="39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b="true" sz="2254">
                <a:solidFill>
                  <a:srgbClr val="2B2B2B"/>
                </a:solidFill>
                <a:latin typeface="Avenir Bold"/>
                <a:ea typeface="Avenir Bold"/>
                <a:cs typeface="Avenir Bold"/>
                <a:sym typeface="Avenir Bold"/>
              </a:rPr>
              <a:t>PRIORITIZE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217330" y="556438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654842" y="4919394"/>
            <a:ext cx="2187560" cy="1945894"/>
          </a:xfrm>
          <a:custGeom>
            <a:avLst/>
            <a:gdLst/>
            <a:ahLst/>
            <a:cxnLst/>
            <a:rect r="r" b="b" t="t" l="l"/>
            <a:pathLst>
              <a:path h="1945894" w="2187560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47172" y="5600387"/>
            <a:ext cx="1687711" cy="39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b="true" sz="2254">
                <a:solidFill>
                  <a:srgbClr val="2B2B2B"/>
                </a:solidFill>
                <a:latin typeface="Avenir Bold"/>
                <a:ea typeface="Avenir Bold"/>
                <a:cs typeface="Avenir Bold"/>
                <a:sym typeface="Avenir Bold"/>
              </a:rPr>
              <a:t>ASSIGN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612708" y="556438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68976" y="4919394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358188" y="5600387"/>
            <a:ext cx="1687711" cy="39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b="true" sz="2254">
                <a:solidFill>
                  <a:srgbClr val="2B2B2B"/>
                </a:solidFill>
                <a:latin typeface="Avenir Bold"/>
                <a:ea typeface="Avenir Bold"/>
                <a:cs typeface="Avenir Bold"/>
                <a:sym typeface="Avenir Bold"/>
              </a:rPr>
              <a:t>REPAIR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26842" y="55643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64354" y="4919394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822781" y="5600387"/>
            <a:ext cx="1687711" cy="39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b="true" sz="2254">
                <a:solidFill>
                  <a:srgbClr val="2B2B2B"/>
                </a:solidFill>
                <a:latin typeface="Avenir Bold"/>
                <a:ea typeface="Avenir Bold"/>
                <a:cs typeface="Avenir Bold"/>
                <a:sym typeface="Avenir Bold"/>
              </a:rPr>
              <a:t>CLOSE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622220" y="55643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059732" y="4919394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260586" y="5600387"/>
            <a:ext cx="1687711" cy="39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b="true" sz="2254">
                <a:solidFill>
                  <a:srgbClr val="2B2B2B"/>
                </a:solidFill>
                <a:latin typeface="Avenir Bold"/>
                <a:ea typeface="Avenir Bold"/>
                <a:cs typeface="Avenir Bold"/>
                <a:sym typeface="Avenir Bold"/>
              </a:rPr>
              <a:t>FEEDBACK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017598" y="556438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455110" y="4919394"/>
            <a:ext cx="2187560" cy="1945894"/>
          </a:xfrm>
          <a:custGeom>
            <a:avLst/>
            <a:gdLst/>
            <a:ahLst/>
            <a:cxnLst/>
            <a:rect r="r" b="b" t="t" l="l"/>
            <a:pathLst>
              <a:path h="1945894" w="2187560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644812" y="5600387"/>
            <a:ext cx="1687711" cy="39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b="true" sz="2254">
                <a:solidFill>
                  <a:srgbClr val="2B2B2B"/>
                </a:solidFill>
                <a:latin typeface="Avenir Bold"/>
                <a:ea typeface="Avenir Bold"/>
                <a:cs typeface="Avenir Bold"/>
                <a:sym typeface="Avenir Bold"/>
              </a:rPr>
              <a:t>REPORT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45330" y="7280704"/>
            <a:ext cx="16997340" cy="229572"/>
          </a:xfrm>
          <a:custGeom>
            <a:avLst/>
            <a:gdLst/>
            <a:ahLst/>
            <a:cxnLst/>
            <a:rect r="r" b="b" t="t" l="l"/>
            <a:pathLst>
              <a:path h="229572" w="16997340">
                <a:moveTo>
                  <a:pt x="0" y="0"/>
                </a:moveTo>
                <a:lnTo>
                  <a:pt x="16997340" y="0"/>
                </a:lnTo>
                <a:lnTo>
                  <a:pt x="1699734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64086" y="813339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14221" y="8251045"/>
            <a:ext cx="2523218" cy="4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B2B2B"/>
                </a:solidFill>
                <a:latin typeface="Avenir"/>
                <a:ea typeface="Avenir"/>
                <a:cs typeface="Avenir"/>
                <a:sym typeface="Avenir"/>
              </a:rPr>
              <a:t>Centralized Data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4353244" y="7925691"/>
            <a:ext cx="218756" cy="1082267"/>
          </a:xfrm>
          <a:custGeom>
            <a:avLst/>
            <a:gdLst/>
            <a:ahLst/>
            <a:cxnLst/>
            <a:rect r="r" b="b" t="t" l="l"/>
            <a:pathLst>
              <a:path h="1082267" w="218756">
                <a:moveTo>
                  <a:pt x="0" y="0"/>
                </a:moveTo>
                <a:lnTo>
                  <a:pt x="218756" y="0"/>
                </a:lnTo>
                <a:lnTo>
                  <a:pt x="21875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779818" y="813339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305210" y="8251045"/>
            <a:ext cx="2581317" cy="4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B2B2B"/>
                </a:solidFill>
                <a:latin typeface="Avenir"/>
                <a:ea typeface="Avenir"/>
                <a:cs typeface="Avenir"/>
                <a:sym typeface="Avenir"/>
              </a:rPr>
              <a:t>Real-Time Status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268976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706488" y="8133399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154312" y="8251045"/>
            <a:ext cx="3433637" cy="4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B2B2B"/>
                </a:solidFill>
                <a:latin typeface="Avenir"/>
                <a:ea typeface="Avenir"/>
                <a:cs typeface="Avenir"/>
                <a:sym typeface="Avenir"/>
              </a:rPr>
              <a:t>Technician Management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278488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716000" y="8133399"/>
            <a:ext cx="218756" cy="655919"/>
          </a:xfrm>
          <a:custGeom>
            <a:avLst/>
            <a:gdLst/>
            <a:ahLst/>
            <a:cxnLst/>
            <a:rect r="r" b="b" t="t" l="l"/>
            <a:pathLst>
              <a:path h="655919" w="218756">
                <a:moveTo>
                  <a:pt x="0" y="0"/>
                </a:moveTo>
                <a:lnTo>
                  <a:pt x="218756" y="0"/>
                </a:lnTo>
                <a:lnTo>
                  <a:pt x="21875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4193300" y="8251045"/>
            <a:ext cx="3169172" cy="4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B2B2B"/>
                </a:solidFill>
                <a:latin typeface="Avenir"/>
                <a:ea typeface="Avenir"/>
                <a:cs typeface="Avenir"/>
                <a:sym typeface="Avenir"/>
              </a:rPr>
              <a:t>Structured Reporting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2231" y="605710"/>
            <a:ext cx="11815739" cy="98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b="true">
                <a:solidFill>
                  <a:srgbClr val="373737"/>
                </a:solidFill>
                <a:latin typeface="Avenir Bold"/>
                <a:ea typeface="Avenir Bold"/>
                <a:cs typeface="Avenir Bold"/>
                <a:sym typeface="Avenir Bold"/>
              </a:rPr>
              <a:t>HOW THE SYSTEM WORKS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1497682"/>
            <a:ext cx="10894048" cy="218640"/>
          </a:xfrm>
          <a:custGeom>
            <a:avLst/>
            <a:gdLst/>
            <a:ahLst/>
            <a:cxnLst/>
            <a:rect r="r" b="b" t="t" l="l"/>
            <a:pathLst>
              <a:path h="218640" w="10894048">
                <a:moveTo>
                  <a:pt x="0" y="0"/>
                </a:moveTo>
                <a:lnTo>
                  <a:pt x="10894048" y="0"/>
                </a:lnTo>
                <a:lnTo>
                  <a:pt x="10894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03196" y="1924030"/>
            <a:ext cx="6332986" cy="1300906"/>
          </a:xfrm>
          <a:custGeom>
            <a:avLst/>
            <a:gdLst/>
            <a:ahLst/>
            <a:cxnLst/>
            <a:rect r="r" b="b" t="t" l="l"/>
            <a:pathLst>
              <a:path h="1300906" w="6332986">
                <a:moveTo>
                  <a:pt x="0" y="0"/>
                </a:moveTo>
                <a:lnTo>
                  <a:pt x="6332986" y="0"/>
                </a:lnTo>
                <a:lnTo>
                  <a:pt x="633298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18074" y="2413025"/>
            <a:ext cx="810973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>
                <a:solidFill>
                  <a:srgbClr val="373737"/>
                </a:solidFill>
                <a:latin typeface="Avenir Bold"/>
                <a:ea typeface="Avenir Bold"/>
                <a:cs typeface="Avenir Bold"/>
                <a:sym typeface="Avenir Bold"/>
              </a:rPr>
              <a:t>USER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436086" y="2995365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3196" y="3421712"/>
            <a:ext cx="6332986" cy="1508614"/>
          </a:xfrm>
          <a:custGeom>
            <a:avLst/>
            <a:gdLst/>
            <a:ahLst/>
            <a:cxnLst/>
            <a:rect r="r" b="b" t="t" l="l"/>
            <a:pathLst>
              <a:path h="1508614" w="6332986">
                <a:moveTo>
                  <a:pt x="0" y="0"/>
                </a:moveTo>
                <a:lnTo>
                  <a:pt x="6332986" y="0"/>
                </a:lnTo>
                <a:lnTo>
                  <a:pt x="633298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81247" y="3798623"/>
            <a:ext cx="3193378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>
                <a:solidFill>
                  <a:srgbClr val="373737"/>
                </a:solidFill>
                <a:latin typeface="Avenir Bold"/>
                <a:ea typeface="Avenir Bold"/>
                <a:cs typeface="Avenir Bold"/>
                <a:sym typeface="Avenir Bold"/>
              </a:rPr>
              <a:t>WEB INTERFACE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436086" y="4711687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03196" y="5138034"/>
            <a:ext cx="6332986" cy="1300906"/>
          </a:xfrm>
          <a:custGeom>
            <a:avLst/>
            <a:gdLst/>
            <a:ahLst/>
            <a:cxnLst/>
            <a:rect r="r" b="b" t="t" l="l"/>
            <a:pathLst>
              <a:path h="1300906" w="6332986">
                <a:moveTo>
                  <a:pt x="0" y="0"/>
                </a:moveTo>
                <a:lnTo>
                  <a:pt x="6332986" y="0"/>
                </a:lnTo>
                <a:lnTo>
                  <a:pt x="633298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90792" y="5651106"/>
            <a:ext cx="3176979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>
                <a:solidFill>
                  <a:srgbClr val="373737"/>
                </a:solidFill>
                <a:latin typeface="Avenir Bold"/>
                <a:ea typeface="Avenir Bold"/>
                <a:cs typeface="Avenir Bold"/>
                <a:sym typeface="Avenir Bold"/>
              </a:rPr>
              <a:t>FLASK APPLICATION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436086" y="620936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03196" y="6635716"/>
            <a:ext cx="6332986" cy="1300906"/>
          </a:xfrm>
          <a:custGeom>
            <a:avLst/>
            <a:gdLst/>
            <a:ahLst/>
            <a:cxnLst/>
            <a:rect r="r" b="b" t="t" l="l"/>
            <a:pathLst>
              <a:path h="1300906" w="6332986">
                <a:moveTo>
                  <a:pt x="0" y="0"/>
                </a:moveTo>
                <a:lnTo>
                  <a:pt x="6332986" y="0"/>
                </a:lnTo>
                <a:lnTo>
                  <a:pt x="633298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64525" y="7127068"/>
            <a:ext cx="3118069" cy="67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>
                <a:solidFill>
                  <a:srgbClr val="373737"/>
                </a:solidFill>
                <a:latin typeface="Avenir Bold"/>
                <a:ea typeface="Avenir Bold"/>
                <a:cs typeface="Avenir Bold"/>
                <a:sym typeface="Avenir Bold"/>
              </a:rPr>
              <a:t>MYSQL CONNECTOR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436086" y="7707051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603196" y="8133399"/>
            <a:ext cx="6332986" cy="1519546"/>
          </a:xfrm>
          <a:custGeom>
            <a:avLst/>
            <a:gdLst/>
            <a:ahLst/>
            <a:cxnLst/>
            <a:rect r="r" b="b" t="t" l="l"/>
            <a:pathLst>
              <a:path h="1519546" w="6332986">
                <a:moveTo>
                  <a:pt x="0" y="0"/>
                </a:moveTo>
                <a:lnTo>
                  <a:pt x="6332986" y="0"/>
                </a:lnTo>
                <a:lnTo>
                  <a:pt x="633298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198674" y="8512666"/>
            <a:ext cx="3375951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>
                <a:solidFill>
                  <a:srgbClr val="373737"/>
                </a:solidFill>
                <a:latin typeface="Avenir Bold"/>
                <a:ea typeface="Avenir Bold"/>
                <a:cs typeface="Avenir Bold"/>
                <a:sym typeface="Avenir Bold"/>
              </a:rPr>
              <a:t>MYSQL DATABASE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883110" y="1924030"/>
            <a:ext cx="229694" cy="7728915"/>
          </a:xfrm>
          <a:custGeom>
            <a:avLst/>
            <a:gdLst/>
            <a:ahLst/>
            <a:cxnLst/>
            <a:rect r="r" b="b" t="t" l="l"/>
            <a:pathLst>
              <a:path h="7728915" w="229694">
                <a:moveTo>
                  <a:pt x="0" y="0"/>
                </a:moveTo>
                <a:lnTo>
                  <a:pt x="229694" y="0"/>
                </a:lnTo>
                <a:lnTo>
                  <a:pt x="229694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225817" y="2413025"/>
            <a:ext cx="1818317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true">
                <a:solidFill>
                  <a:srgbClr val="BF986D"/>
                </a:solidFill>
                <a:latin typeface="Avenir Bold"/>
                <a:ea typeface="Avenir Bold"/>
                <a:cs typeface="Avenir Bold"/>
                <a:sym typeface="Avenir Bold"/>
              </a:rPr>
              <a:t>FRONTEND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33808" y="2955216"/>
            <a:ext cx="879328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>
                <a:solidFill>
                  <a:srgbClr val="373737"/>
                </a:solidFill>
                <a:latin typeface="Avenir"/>
                <a:ea typeface="Avenir"/>
                <a:cs typeface="Avenir"/>
                <a:sym typeface="Avenir"/>
              </a:rPr>
              <a:t>HTML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35961" y="3422102"/>
            <a:ext cx="664018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>
                <a:solidFill>
                  <a:srgbClr val="373737"/>
                </a:solidFill>
                <a:latin typeface="Avenir"/>
                <a:ea typeface="Avenir"/>
                <a:cs typeface="Avenir"/>
                <a:sym typeface="Avenir"/>
              </a:rPr>
              <a:t>CSS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27336" y="3873927"/>
            <a:ext cx="1526538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>
                <a:solidFill>
                  <a:srgbClr val="373737"/>
                </a:solidFill>
                <a:latin typeface="Avenir"/>
                <a:ea typeface="Avenir"/>
                <a:cs typeface="Avenir"/>
                <a:sym typeface="Avenir"/>
              </a:rPr>
              <a:t>JavaScript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34156" y="4331846"/>
            <a:ext cx="844590" cy="37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2443">
                <a:solidFill>
                  <a:srgbClr val="373737"/>
                </a:solidFill>
                <a:latin typeface="Avenir"/>
                <a:ea typeface="Avenir"/>
                <a:cs typeface="Avenir"/>
                <a:sym typeface="Avenir"/>
              </a:rPr>
              <a:t>Jinja2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184708" y="5138034"/>
            <a:ext cx="3718852" cy="229572"/>
          </a:xfrm>
          <a:custGeom>
            <a:avLst/>
            <a:gdLst/>
            <a:ahLst/>
            <a:cxnLst/>
            <a:rect r="r" b="b" t="t" l="l"/>
            <a:pathLst>
              <a:path h="229572" w="3718852">
                <a:moveTo>
                  <a:pt x="0" y="0"/>
                </a:moveTo>
                <a:lnTo>
                  <a:pt x="3718852" y="0"/>
                </a:lnTo>
                <a:lnTo>
                  <a:pt x="371885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227788" y="5651106"/>
            <a:ext cx="1816346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true">
                <a:solidFill>
                  <a:srgbClr val="BF986D"/>
                </a:solidFill>
                <a:latin typeface="Avenir Bold"/>
                <a:ea typeface="Avenir Bold"/>
                <a:cs typeface="Avenir Bold"/>
                <a:sym typeface="Avenir Bold"/>
              </a:rPr>
              <a:t>BACKEND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32502" y="6148114"/>
            <a:ext cx="1009955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>
                <a:solidFill>
                  <a:srgbClr val="373737"/>
                </a:solidFill>
                <a:latin typeface="Avenir"/>
                <a:ea typeface="Avenir"/>
                <a:cs typeface="Avenir"/>
                <a:sym typeface="Avenir"/>
              </a:rPr>
              <a:t>Python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35089" y="6599939"/>
            <a:ext cx="751263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>
                <a:solidFill>
                  <a:srgbClr val="373737"/>
                </a:solidFill>
                <a:latin typeface="Avenir"/>
                <a:ea typeface="Avenir"/>
                <a:cs typeface="Avenir"/>
                <a:sym typeface="Avenir"/>
              </a:rPr>
              <a:t>Flask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184708" y="7280704"/>
            <a:ext cx="3718852" cy="437279"/>
          </a:xfrm>
          <a:custGeom>
            <a:avLst/>
            <a:gdLst/>
            <a:ahLst/>
            <a:cxnLst/>
            <a:rect r="r" b="b" t="t" l="l"/>
            <a:pathLst>
              <a:path h="437279" w="3718852">
                <a:moveTo>
                  <a:pt x="0" y="0"/>
                </a:moveTo>
                <a:lnTo>
                  <a:pt x="3718852" y="0"/>
                </a:lnTo>
                <a:lnTo>
                  <a:pt x="371885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225873" y="7985536"/>
            <a:ext cx="1818261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true">
                <a:solidFill>
                  <a:srgbClr val="BF986D"/>
                </a:solidFill>
                <a:latin typeface="Avenir Bold"/>
                <a:ea typeface="Avenir Bold"/>
                <a:cs typeface="Avenir Bold"/>
                <a:sym typeface="Avenir Bold"/>
              </a:rPr>
              <a:t>DATABASE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26334" y="8482544"/>
            <a:ext cx="1626749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>
                <a:solidFill>
                  <a:srgbClr val="373737"/>
                </a:solidFill>
                <a:latin typeface="Avenir"/>
                <a:ea typeface="Avenir"/>
                <a:cs typeface="Avenir"/>
                <a:sym typeface="Avenir"/>
              </a:rPr>
              <a:t>MySQL 8.0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93219" y="4219859"/>
            <a:ext cx="5572125" cy="34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>
                <a:solidFill>
                  <a:srgbClr val="373737"/>
                </a:solidFill>
                <a:latin typeface="Avenir"/>
                <a:ea typeface="Avenir"/>
                <a:cs typeface="Avenir"/>
                <a:sym typeface="Avenir"/>
              </a:rPr>
              <a:t>HTML • CSS • JavaScript • Jinja2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93219" y="8918841"/>
            <a:ext cx="5572125" cy="34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>
                <a:solidFill>
                  <a:srgbClr val="373737"/>
                </a:solidFill>
                <a:latin typeface="Avenir"/>
                <a:ea typeface="Avenir"/>
                <a:cs typeface="Avenir"/>
                <a:sym typeface="Avenir"/>
              </a:rPr>
              <a:t>campus_maintenance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4853" y="585350"/>
            <a:ext cx="12845144" cy="8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6"/>
              </a:lnSpc>
            </a:pPr>
            <a:r>
              <a:rPr lang="en-US" sz="5416" b="true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THE DATABASE BEHIND THE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497682"/>
            <a:ext cx="4364182" cy="218640"/>
          </a:xfrm>
          <a:custGeom>
            <a:avLst/>
            <a:gdLst/>
            <a:ahLst/>
            <a:cxnLst/>
            <a:rect r="r" b="b" t="t" l="l"/>
            <a:pathLst>
              <a:path h="218640" w="4364182">
                <a:moveTo>
                  <a:pt x="0" y="0"/>
                </a:moveTo>
                <a:lnTo>
                  <a:pt x="4364182" y="0"/>
                </a:lnTo>
                <a:lnTo>
                  <a:pt x="436418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9916" y="1795531"/>
            <a:ext cx="4017728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Simplified schema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39110" y="3214004"/>
            <a:ext cx="2625072" cy="1508614"/>
          </a:xfrm>
          <a:custGeom>
            <a:avLst/>
            <a:gdLst/>
            <a:ahLst/>
            <a:cxnLst/>
            <a:rect r="r" b="b" t="t" l="l"/>
            <a:pathLst>
              <a:path h="1508614" w="2625072">
                <a:moveTo>
                  <a:pt x="0" y="0"/>
                </a:moveTo>
                <a:lnTo>
                  <a:pt x="2625072" y="0"/>
                </a:lnTo>
                <a:lnTo>
                  <a:pt x="262507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57866" y="3848060"/>
            <a:ext cx="437512" cy="229572"/>
          </a:xfrm>
          <a:custGeom>
            <a:avLst/>
            <a:gdLst/>
            <a:ahLst/>
            <a:cxnLst/>
            <a:rect r="r" b="b" t="t" l="l"/>
            <a:pathLst>
              <a:path h="229572" w="437512">
                <a:moveTo>
                  <a:pt x="0" y="0"/>
                </a:moveTo>
                <a:lnTo>
                  <a:pt x="437512" y="0"/>
                </a:lnTo>
                <a:lnTo>
                  <a:pt x="43751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13946" y="3790134"/>
            <a:ext cx="954650" cy="71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9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user_id (PK)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name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role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39110" y="5138034"/>
            <a:ext cx="2625072" cy="1300906"/>
          </a:xfrm>
          <a:custGeom>
            <a:avLst/>
            <a:gdLst/>
            <a:ahLst/>
            <a:cxnLst/>
            <a:rect r="r" b="b" t="t" l="l"/>
            <a:pathLst>
              <a:path h="1300906" w="2625072">
                <a:moveTo>
                  <a:pt x="0" y="0"/>
                </a:moveTo>
                <a:lnTo>
                  <a:pt x="2625072" y="0"/>
                </a:lnTo>
                <a:lnTo>
                  <a:pt x="262507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62936" y="5374210"/>
            <a:ext cx="1201322" cy="1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b="true" sz="133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CATEGORIES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957866" y="5564382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10298" y="5727893"/>
            <a:ext cx="1319371" cy="438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2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$ category_id (PK)</a:t>
            </a:r>
          </a:p>
          <a:p>
            <a:pPr algn="l">
              <a:lnSpc>
                <a:spcPts val="1799"/>
              </a:lnSpc>
            </a:pPr>
            <a:r>
              <a:rPr lang="en-US" sz="112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category_name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39110" y="6854356"/>
            <a:ext cx="2625072" cy="1289974"/>
          </a:xfrm>
          <a:custGeom>
            <a:avLst/>
            <a:gdLst/>
            <a:ahLst/>
            <a:cxnLst/>
            <a:rect r="r" b="b" t="t" l="l"/>
            <a:pathLst>
              <a:path h="1289974" w="2625072">
                <a:moveTo>
                  <a:pt x="0" y="0"/>
                </a:moveTo>
                <a:lnTo>
                  <a:pt x="2625072" y="0"/>
                </a:lnTo>
                <a:lnTo>
                  <a:pt x="262507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57866" y="7280704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11407" y="7339403"/>
            <a:ext cx="1208532" cy="438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2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$ priority_id (PK)</a:t>
            </a:r>
          </a:p>
          <a:p>
            <a:pPr algn="l">
              <a:lnSpc>
                <a:spcPts val="1799"/>
              </a:lnSpc>
            </a:pPr>
            <a:r>
              <a:rPr lang="en-US" sz="112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priority_level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092354" y="4919394"/>
            <a:ext cx="3489158" cy="2590881"/>
          </a:xfrm>
          <a:custGeom>
            <a:avLst/>
            <a:gdLst/>
            <a:ahLst/>
            <a:cxnLst/>
            <a:rect r="r" b="b" t="t" l="l"/>
            <a:pathLst>
              <a:path h="2590881" w="3489158">
                <a:moveTo>
                  <a:pt x="0" y="0"/>
                </a:moveTo>
                <a:lnTo>
                  <a:pt x="3489158" y="0"/>
                </a:lnTo>
                <a:lnTo>
                  <a:pt x="3489158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410627" y="5062611"/>
            <a:ext cx="2820345" cy="24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b="true" sz="1617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MAINTENANCE_REQUESTS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529866" y="5564382"/>
            <a:ext cx="437512" cy="229572"/>
          </a:xfrm>
          <a:custGeom>
            <a:avLst/>
            <a:gdLst/>
            <a:ahLst/>
            <a:cxnLst/>
            <a:rect r="r" b="b" t="t" l="l"/>
            <a:pathLst>
              <a:path h="229572" w="437512">
                <a:moveTo>
                  <a:pt x="0" y="0"/>
                </a:moveTo>
                <a:lnTo>
                  <a:pt x="437512" y="0"/>
                </a:lnTo>
                <a:lnTo>
                  <a:pt x="43751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926378" y="5461887"/>
            <a:ext cx="1198899" cy="163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9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request_id (PK)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user_id (FK)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room_id (FK)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category_id (FK)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priority_id (FK)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status_id (FK)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created_at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748622" y="1705390"/>
            <a:ext cx="2187560" cy="1519546"/>
          </a:xfrm>
          <a:custGeom>
            <a:avLst/>
            <a:gdLst/>
            <a:ahLst/>
            <a:cxnLst/>
            <a:rect r="r" b="b" t="t" l="l"/>
            <a:pathLst>
              <a:path h="1519546" w="2187560">
                <a:moveTo>
                  <a:pt x="0" y="0"/>
                </a:moveTo>
                <a:lnTo>
                  <a:pt x="2187560" y="0"/>
                </a:lnTo>
                <a:lnTo>
                  <a:pt x="218756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956440" y="2350377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167089" y="2374415"/>
            <a:ext cx="1237985" cy="47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9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building_id (PK)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building_name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748622" y="3214004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956440" y="3848060"/>
            <a:ext cx="229694" cy="229572"/>
          </a:xfrm>
          <a:custGeom>
            <a:avLst/>
            <a:gdLst/>
            <a:ahLst/>
            <a:cxnLst/>
            <a:rect r="r" b="b" t="t" l="l"/>
            <a:pathLst>
              <a:path h="229572" w="229694">
                <a:moveTo>
                  <a:pt x="0" y="0"/>
                </a:moveTo>
                <a:lnTo>
                  <a:pt x="229694" y="0"/>
                </a:lnTo>
                <a:lnTo>
                  <a:pt x="229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168339" y="3790134"/>
            <a:ext cx="1113019" cy="71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9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room_id (PK)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building_id (FK)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room_name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436086" y="7925691"/>
            <a:ext cx="2406316" cy="1727254"/>
          </a:xfrm>
          <a:custGeom>
            <a:avLst/>
            <a:gdLst/>
            <a:ahLst/>
            <a:cxnLst/>
            <a:rect r="r" b="b" t="t" l="l"/>
            <a:pathLst>
              <a:path h="1727254" w="2406316">
                <a:moveTo>
                  <a:pt x="0" y="0"/>
                </a:moveTo>
                <a:lnTo>
                  <a:pt x="2406316" y="0"/>
                </a:lnTo>
                <a:lnTo>
                  <a:pt x="240631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436086" y="8352038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743442" y="8383690"/>
            <a:ext cx="1620670" cy="94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9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statushistory_id (PK)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request_id (FK)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status_id (FK)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changed_at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268976" y="7925691"/>
            <a:ext cx="2406316" cy="1727254"/>
          </a:xfrm>
          <a:custGeom>
            <a:avLst/>
            <a:gdLst/>
            <a:ahLst/>
            <a:cxnLst/>
            <a:rect r="r" b="b" t="t" l="l"/>
            <a:pathLst>
              <a:path h="1727254" w="2406316">
                <a:moveTo>
                  <a:pt x="0" y="0"/>
                </a:moveTo>
                <a:lnTo>
                  <a:pt x="2406316" y="0"/>
                </a:lnTo>
                <a:lnTo>
                  <a:pt x="240631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487732" y="8352038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666268" y="8384904"/>
            <a:ext cx="1338822" cy="866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24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$ feedback_id (PK)</a:t>
            </a:r>
          </a:p>
          <a:p>
            <a:pPr algn="l">
              <a:lnSpc>
                <a:spcPts val="1799"/>
              </a:lnSpc>
            </a:pPr>
            <a:r>
              <a:rPr lang="en-US" sz="1124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request_id (FK)</a:t>
            </a:r>
          </a:p>
          <a:p>
            <a:pPr algn="l">
              <a:lnSpc>
                <a:spcPts val="1799"/>
              </a:lnSpc>
            </a:pPr>
            <a:r>
              <a:rPr lang="en-US" sz="1124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user_id (FK)</a:t>
            </a:r>
          </a:p>
          <a:p>
            <a:pPr algn="l">
              <a:lnSpc>
                <a:spcPts val="1799"/>
              </a:lnSpc>
            </a:pPr>
            <a:r>
              <a:rPr lang="en-US" sz="1124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feedback_text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1965952" y="3214004"/>
            <a:ext cx="2406316" cy="1508614"/>
          </a:xfrm>
          <a:custGeom>
            <a:avLst/>
            <a:gdLst/>
            <a:ahLst/>
            <a:cxnLst/>
            <a:rect r="r" b="b" t="t" l="l"/>
            <a:pathLst>
              <a:path h="1508614" w="2406316">
                <a:moveTo>
                  <a:pt x="0" y="0"/>
                </a:moveTo>
                <a:lnTo>
                  <a:pt x="2406316" y="0"/>
                </a:lnTo>
                <a:lnTo>
                  <a:pt x="2406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84708" y="3640352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336367" y="3746457"/>
            <a:ext cx="1339060" cy="71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9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technician_id (PK)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name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contact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883110" y="5138034"/>
            <a:ext cx="2406316" cy="1727254"/>
          </a:xfrm>
          <a:custGeom>
            <a:avLst/>
            <a:gdLst/>
            <a:ahLst/>
            <a:cxnLst/>
            <a:rect r="r" b="b" t="t" l="l"/>
            <a:pathLst>
              <a:path h="1727254" w="2406316">
                <a:moveTo>
                  <a:pt x="0" y="0"/>
                </a:moveTo>
                <a:lnTo>
                  <a:pt x="2406316" y="0"/>
                </a:lnTo>
                <a:lnTo>
                  <a:pt x="240631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394328" y="5374210"/>
            <a:ext cx="1342932" cy="1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b="true" sz="133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ASSIGNMENTS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0883110" y="55643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361330" y="5138034"/>
            <a:ext cx="2406316" cy="1727254"/>
          </a:xfrm>
          <a:custGeom>
            <a:avLst/>
            <a:gdLst/>
            <a:ahLst/>
            <a:cxnLst/>
            <a:rect r="r" b="b" t="t" l="l"/>
            <a:pathLst>
              <a:path h="1727254" w="2406316">
                <a:moveTo>
                  <a:pt x="0" y="0"/>
                </a:moveTo>
                <a:lnTo>
                  <a:pt x="2406316" y="0"/>
                </a:lnTo>
                <a:lnTo>
                  <a:pt x="240631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4980629" y="5374210"/>
            <a:ext cx="1186922" cy="1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b="true" sz="133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WORK_LOGS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4580086" y="5564382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4854547" y="5719171"/>
            <a:ext cx="1338311" cy="65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2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$ work_log_id (PK)</a:t>
            </a:r>
          </a:p>
          <a:p>
            <a:pPr algn="l">
              <a:lnSpc>
                <a:spcPts val="1799"/>
              </a:lnSpc>
            </a:pPr>
            <a:r>
              <a:rPr lang="en-US" sz="112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request_id </a:t>
            </a:r>
            <a:r>
              <a:rPr lang="en-US" sz="1125">
                <a:solidFill>
                  <a:srgbClr val="C8B290"/>
                </a:solidFill>
                <a:latin typeface="Avenir"/>
                <a:ea typeface="Avenir"/>
                <a:cs typeface="Avenir"/>
                <a:sym typeface="Avenir"/>
              </a:rPr>
              <a:t>(FK)</a:t>
            </a:r>
          </a:p>
          <a:p>
            <a:pPr algn="l">
              <a:lnSpc>
                <a:spcPts val="1799"/>
              </a:lnSpc>
            </a:pPr>
            <a:r>
              <a:rPr lang="en-US" sz="112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technician_id </a:t>
            </a:r>
            <a:r>
              <a:rPr lang="en-US" sz="1125">
                <a:solidFill>
                  <a:srgbClr val="C8B290"/>
                </a:solidFill>
                <a:latin typeface="Avenir"/>
                <a:ea typeface="Avenir"/>
                <a:cs typeface="Avenir"/>
                <a:sym typeface="Avenir"/>
              </a:rPr>
              <a:t>(FK)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1320622" y="7707051"/>
            <a:ext cx="2395378" cy="1508614"/>
          </a:xfrm>
          <a:custGeom>
            <a:avLst/>
            <a:gdLst/>
            <a:ahLst/>
            <a:cxnLst/>
            <a:rect r="r" b="b" t="t" l="l"/>
            <a:pathLst>
              <a:path h="1508614" w="2395378">
                <a:moveTo>
                  <a:pt x="0" y="0"/>
                </a:moveTo>
                <a:lnTo>
                  <a:pt x="2395378" y="0"/>
                </a:lnTo>
                <a:lnTo>
                  <a:pt x="239537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320622" y="8133399"/>
            <a:ext cx="437512" cy="448211"/>
          </a:xfrm>
          <a:custGeom>
            <a:avLst/>
            <a:gdLst/>
            <a:ahLst/>
            <a:cxnLst/>
            <a:rect r="r" b="b" t="t" l="l"/>
            <a:pathLst>
              <a:path h="448211" w="437512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1667686" y="8218021"/>
            <a:ext cx="1234481" cy="71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9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material_id (PK)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material_name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unit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361330" y="7707051"/>
            <a:ext cx="2843828" cy="1727254"/>
          </a:xfrm>
          <a:custGeom>
            <a:avLst/>
            <a:gdLst/>
            <a:ahLst/>
            <a:cxnLst/>
            <a:rect r="r" b="b" t="t" l="l"/>
            <a:pathLst>
              <a:path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580086" y="8133399"/>
            <a:ext cx="229694" cy="448211"/>
          </a:xfrm>
          <a:custGeom>
            <a:avLst/>
            <a:gdLst/>
            <a:ahLst/>
            <a:cxnLst/>
            <a:rect r="r" b="b" t="t" l="l"/>
            <a:pathLst>
              <a:path h="448211" w="229694">
                <a:moveTo>
                  <a:pt x="0" y="0"/>
                </a:moveTo>
                <a:lnTo>
                  <a:pt x="229694" y="0"/>
                </a:lnTo>
                <a:lnTo>
                  <a:pt x="22969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4850805" y="8219348"/>
            <a:ext cx="1712503" cy="94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95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material_usage_id (PK)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work_log_id (FK)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material_id (FK)</a:t>
            </a:r>
          </a:p>
          <a:p>
            <a:pPr algn="l">
              <a:lnSpc>
                <a:spcPts val="1912"/>
              </a:lnSpc>
            </a:pPr>
            <a:r>
              <a:rPr lang="en-US" sz="1195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quantity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4134488" y="3848060"/>
            <a:ext cx="2187560" cy="1727254"/>
          </a:xfrm>
          <a:custGeom>
            <a:avLst/>
            <a:gdLst/>
            <a:ahLst/>
            <a:cxnLst/>
            <a:rect r="r" b="b" t="t" l="l"/>
            <a:pathLst>
              <a:path h="1727254" w="2187560">
                <a:moveTo>
                  <a:pt x="0" y="0"/>
                </a:moveTo>
                <a:lnTo>
                  <a:pt x="2187560" y="0"/>
                </a:lnTo>
                <a:lnTo>
                  <a:pt x="218756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134488" y="5783021"/>
            <a:ext cx="2187560" cy="218640"/>
          </a:xfrm>
          <a:custGeom>
            <a:avLst/>
            <a:gdLst/>
            <a:ahLst/>
            <a:cxnLst/>
            <a:rect r="r" b="b" t="t" l="l"/>
            <a:pathLst>
              <a:path h="218640" w="2187560">
                <a:moveTo>
                  <a:pt x="0" y="0"/>
                </a:moveTo>
                <a:lnTo>
                  <a:pt x="2187560" y="0"/>
                </a:lnTo>
                <a:lnTo>
                  <a:pt x="218756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4134488" y="6428009"/>
            <a:ext cx="2187560" cy="1289974"/>
          </a:xfrm>
          <a:custGeom>
            <a:avLst/>
            <a:gdLst/>
            <a:ahLst/>
            <a:cxnLst/>
            <a:rect r="r" b="b" t="t" l="l"/>
            <a:pathLst>
              <a:path h="1289974" w="2187560">
                <a:moveTo>
                  <a:pt x="0" y="0"/>
                </a:moveTo>
                <a:lnTo>
                  <a:pt x="2187560" y="0"/>
                </a:lnTo>
                <a:lnTo>
                  <a:pt x="218756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092354" y="7280704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8487732" y="7280704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351818" y="5783021"/>
            <a:ext cx="1760986" cy="218640"/>
          </a:xfrm>
          <a:custGeom>
            <a:avLst/>
            <a:gdLst/>
            <a:ahLst/>
            <a:cxnLst/>
            <a:rect r="r" b="b" t="t" l="l"/>
            <a:pathLst>
              <a:path h="218640" w="1760986">
                <a:moveTo>
                  <a:pt x="0" y="0"/>
                </a:moveTo>
                <a:lnTo>
                  <a:pt x="1760986" y="0"/>
                </a:lnTo>
                <a:lnTo>
                  <a:pt x="176098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351818" y="6209369"/>
            <a:ext cx="1760986" cy="229572"/>
          </a:xfrm>
          <a:custGeom>
            <a:avLst/>
            <a:gdLst/>
            <a:ahLst/>
            <a:cxnLst/>
            <a:rect r="r" b="b" t="t" l="l"/>
            <a:pathLst>
              <a:path h="229572" w="1760986">
                <a:moveTo>
                  <a:pt x="0" y="0"/>
                </a:moveTo>
                <a:lnTo>
                  <a:pt x="1760986" y="0"/>
                </a:lnTo>
                <a:lnTo>
                  <a:pt x="176098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1965952" y="4493047"/>
            <a:ext cx="3718852" cy="874559"/>
          </a:xfrm>
          <a:custGeom>
            <a:avLst/>
            <a:gdLst/>
            <a:ahLst/>
            <a:cxnLst/>
            <a:rect r="r" b="b" t="t" l="l"/>
            <a:pathLst>
              <a:path h="874559" w="3718852">
                <a:moveTo>
                  <a:pt x="0" y="0"/>
                </a:moveTo>
                <a:lnTo>
                  <a:pt x="3718852" y="0"/>
                </a:lnTo>
                <a:lnTo>
                  <a:pt x="371885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5455110" y="6635716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3497244" y="8352038"/>
            <a:ext cx="1093780" cy="229572"/>
          </a:xfrm>
          <a:custGeom>
            <a:avLst/>
            <a:gdLst/>
            <a:ahLst/>
            <a:cxnLst/>
            <a:rect r="r" b="b" t="t" l="l"/>
            <a:pathLst>
              <a:path h="229572" w="1093780">
                <a:moveTo>
                  <a:pt x="0" y="0"/>
                </a:moveTo>
                <a:lnTo>
                  <a:pt x="1093780" y="0"/>
                </a:lnTo>
                <a:lnTo>
                  <a:pt x="109378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3059632" y="9816346"/>
            <a:ext cx="11840660" cy="2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13 RELATIONAL TABLES     |     NORMALIZED DESIGN     |     PRIMARY &amp; FOREIGN KEYS     |     DATA INTEGRITY CONSTRAINTS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264802" y="5729095"/>
            <a:ext cx="1339379" cy="65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24" b="true">
                <a:solidFill>
                  <a:srgbClr val="C8B290"/>
                </a:solidFill>
                <a:latin typeface="Avenir Bold"/>
                <a:ea typeface="Avenir Bold"/>
                <a:cs typeface="Avenir Bold"/>
                <a:sym typeface="Avenir Bold"/>
              </a:rPr>
              <a:t>assignment_id (PK)</a:t>
            </a:r>
          </a:p>
          <a:p>
            <a:pPr algn="l">
              <a:lnSpc>
                <a:spcPts val="1799"/>
              </a:lnSpc>
            </a:pPr>
            <a:r>
              <a:rPr lang="en-US" sz="1124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request_id </a:t>
            </a:r>
            <a:r>
              <a:rPr lang="en-US" sz="1124">
                <a:solidFill>
                  <a:srgbClr val="C8B290"/>
                </a:solidFill>
                <a:latin typeface="Avenir"/>
                <a:ea typeface="Avenir"/>
                <a:cs typeface="Avenir"/>
                <a:sym typeface="Avenir"/>
              </a:rPr>
              <a:t>(FK)</a:t>
            </a:r>
          </a:p>
          <a:p>
            <a:pPr algn="l">
              <a:lnSpc>
                <a:spcPts val="1799"/>
              </a:lnSpc>
            </a:pPr>
            <a:r>
              <a:rPr lang="en-US" sz="1124">
                <a:solidFill>
                  <a:srgbClr val="3B3B3B"/>
                </a:solidFill>
                <a:latin typeface="Avenir"/>
                <a:ea typeface="Avenir"/>
                <a:cs typeface="Avenir"/>
                <a:sym typeface="Avenir"/>
              </a:rPr>
              <a:t>technician_id </a:t>
            </a:r>
            <a:r>
              <a:rPr lang="en-US" sz="1124">
                <a:solidFill>
                  <a:srgbClr val="C8B290"/>
                </a:solidFill>
                <a:latin typeface="Avenir"/>
                <a:ea typeface="Avenir"/>
                <a:cs typeface="Avenir"/>
                <a:sym typeface="Avenir"/>
              </a:rPr>
              <a:t>(FK)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998891" y="7859248"/>
            <a:ext cx="1680820" cy="1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b="true" sz="133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MATERIAL_USAGE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887786" y="8070100"/>
            <a:ext cx="1423934" cy="17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STATUS HISTORY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563511" y="3401240"/>
            <a:ext cx="1252703" cy="1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b="true" sz="133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TECHNICIANS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991657" y="7859248"/>
            <a:ext cx="1056958" cy="1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b="true" sz="133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MATERIALS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545697" y="7000781"/>
            <a:ext cx="1035801" cy="1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b="true" sz="133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PRIORITIES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341184" y="2045764"/>
            <a:ext cx="1005843" cy="1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b="true" sz="133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BUILDINGS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961706" y="8070100"/>
            <a:ext cx="901798" cy="17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FEEDBACK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500972" y="3476544"/>
            <a:ext cx="686267" cy="1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b="true" sz="133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ROOMS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750999" y="3476544"/>
            <a:ext cx="625196" cy="1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b="true" sz="1335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USERS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1497682"/>
            <a:ext cx="12862852" cy="218640"/>
          </a:xfrm>
          <a:custGeom>
            <a:avLst/>
            <a:gdLst/>
            <a:ahLst/>
            <a:cxnLst/>
            <a:rect r="r" b="b" t="t" l="l"/>
            <a:pathLst>
              <a:path h="218640" w="12862852">
                <a:moveTo>
                  <a:pt x="0" y="0"/>
                </a:moveTo>
                <a:lnTo>
                  <a:pt x="12862852" y="0"/>
                </a:lnTo>
                <a:lnTo>
                  <a:pt x="1286285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354" y="2350377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7818" y="2776725"/>
            <a:ext cx="4364182" cy="5586245"/>
          </a:xfrm>
          <a:custGeom>
            <a:avLst/>
            <a:gdLst/>
            <a:ahLst/>
            <a:cxnLst/>
            <a:rect r="r" b="b" t="t" l="l"/>
            <a:pathLst>
              <a:path h="5586245" w="4364182">
                <a:moveTo>
                  <a:pt x="0" y="0"/>
                </a:moveTo>
                <a:lnTo>
                  <a:pt x="4364182" y="0"/>
                </a:lnTo>
                <a:lnTo>
                  <a:pt x="4364182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7818" y="2995365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818" y="3640352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7818" y="3640352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7818" y="3848060"/>
            <a:ext cx="1104718" cy="1727254"/>
          </a:xfrm>
          <a:custGeom>
            <a:avLst/>
            <a:gdLst/>
            <a:ahLst/>
            <a:cxnLst/>
            <a:rect r="r" b="b" t="t" l="l"/>
            <a:pathLst>
              <a:path h="1727254" w="1104718">
                <a:moveTo>
                  <a:pt x="0" y="0"/>
                </a:moveTo>
                <a:lnTo>
                  <a:pt x="1104718" y="0"/>
                </a:lnTo>
                <a:lnTo>
                  <a:pt x="110471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0354" y="3421712"/>
            <a:ext cx="667206" cy="229572"/>
          </a:xfrm>
          <a:custGeom>
            <a:avLst/>
            <a:gdLst/>
            <a:ahLst/>
            <a:cxnLst/>
            <a:rect r="r" b="b" t="t" l="l"/>
            <a:pathLst>
              <a:path h="229572" w="667206">
                <a:moveTo>
                  <a:pt x="0" y="0"/>
                </a:moveTo>
                <a:lnTo>
                  <a:pt x="667206" y="0"/>
                </a:lnTo>
                <a:lnTo>
                  <a:pt x="667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0354" y="3640352"/>
            <a:ext cx="2843828" cy="863627"/>
          </a:xfrm>
          <a:custGeom>
            <a:avLst/>
            <a:gdLst/>
            <a:ahLst/>
            <a:cxnLst/>
            <a:rect r="r" b="b" t="t" l="l"/>
            <a:pathLst>
              <a:path h="863627" w="2843828">
                <a:moveTo>
                  <a:pt x="0" y="0"/>
                </a:moveTo>
                <a:lnTo>
                  <a:pt x="2843828" y="0"/>
                </a:lnTo>
                <a:lnTo>
                  <a:pt x="284382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0354" y="4711687"/>
            <a:ext cx="1531292" cy="1508614"/>
          </a:xfrm>
          <a:custGeom>
            <a:avLst/>
            <a:gdLst/>
            <a:ahLst/>
            <a:cxnLst/>
            <a:rect r="r" b="b" t="t" l="l"/>
            <a:pathLst>
              <a:path h="1508614" w="1531292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1598" y="6428009"/>
            <a:ext cx="3062584" cy="1716322"/>
          </a:xfrm>
          <a:custGeom>
            <a:avLst/>
            <a:gdLst/>
            <a:ahLst/>
            <a:cxnLst/>
            <a:rect r="r" b="b" t="t" l="l"/>
            <a:pathLst>
              <a:path h="1716322" w="3062584">
                <a:moveTo>
                  <a:pt x="0" y="0"/>
                </a:moveTo>
                <a:lnTo>
                  <a:pt x="3062584" y="0"/>
                </a:lnTo>
                <a:lnTo>
                  <a:pt x="3062584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572000" y="2776725"/>
            <a:ext cx="4364182" cy="5586245"/>
          </a:xfrm>
          <a:custGeom>
            <a:avLst/>
            <a:gdLst/>
            <a:ahLst/>
            <a:cxnLst/>
            <a:rect r="r" b="b" t="t" l="l"/>
            <a:pathLst>
              <a:path h="5586245" w="4364182">
                <a:moveTo>
                  <a:pt x="0" y="0"/>
                </a:moveTo>
                <a:lnTo>
                  <a:pt x="4364182" y="0"/>
                </a:lnTo>
                <a:lnTo>
                  <a:pt x="4364182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54842" y="2350377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73598" y="3214004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873598" y="3640352"/>
            <a:ext cx="2843828" cy="655919"/>
          </a:xfrm>
          <a:custGeom>
            <a:avLst/>
            <a:gdLst/>
            <a:ahLst/>
            <a:cxnLst/>
            <a:rect r="r" b="b" t="t" l="l"/>
            <a:pathLst>
              <a:path h="655919" w="2843828">
                <a:moveTo>
                  <a:pt x="0" y="0"/>
                </a:moveTo>
                <a:lnTo>
                  <a:pt x="2843828" y="0"/>
                </a:lnTo>
                <a:lnTo>
                  <a:pt x="2843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873598" y="4285339"/>
            <a:ext cx="2843828" cy="644987"/>
          </a:xfrm>
          <a:custGeom>
            <a:avLst/>
            <a:gdLst/>
            <a:ahLst/>
            <a:cxnLst/>
            <a:rect r="r" b="b" t="t" l="l"/>
            <a:pathLst>
              <a:path h="644987" w="2843828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873598" y="4919394"/>
            <a:ext cx="2843828" cy="448211"/>
          </a:xfrm>
          <a:custGeom>
            <a:avLst/>
            <a:gdLst/>
            <a:ahLst/>
            <a:cxnLst/>
            <a:rect r="r" b="b" t="t" l="l"/>
            <a:pathLst>
              <a:path h="448211" w="2843828">
                <a:moveTo>
                  <a:pt x="0" y="0"/>
                </a:moveTo>
                <a:lnTo>
                  <a:pt x="2843828" y="0"/>
                </a:lnTo>
                <a:lnTo>
                  <a:pt x="284382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873598" y="5564382"/>
            <a:ext cx="2843828" cy="874559"/>
          </a:xfrm>
          <a:custGeom>
            <a:avLst/>
            <a:gdLst/>
            <a:ahLst/>
            <a:cxnLst/>
            <a:rect r="r" b="b" t="t" l="l"/>
            <a:pathLst>
              <a:path h="874559" w="2843828">
                <a:moveTo>
                  <a:pt x="0" y="0"/>
                </a:moveTo>
                <a:lnTo>
                  <a:pt x="2843828" y="0"/>
                </a:lnTo>
                <a:lnTo>
                  <a:pt x="284382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873598" y="6428009"/>
            <a:ext cx="2843828" cy="644987"/>
          </a:xfrm>
          <a:custGeom>
            <a:avLst/>
            <a:gdLst/>
            <a:ahLst/>
            <a:cxnLst/>
            <a:rect r="r" b="b" t="t" l="l"/>
            <a:pathLst>
              <a:path h="644987" w="2843828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873598" y="7062064"/>
            <a:ext cx="1531292" cy="448211"/>
          </a:xfrm>
          <a:custGeom>
            <a:avLst/>
            <a:gdLst/>
            <a:ahLst/>
            <a:cxnLst/>
            <a:rect r="r" b="b" t="t" l="l"/>
            <a:pathLst>
              <a:path h="448211" w="1531292">
                <a:moveTo>
                  <a:pt x="0" y="0"/>
                </a:moveTo>
                <a:lnTo>
                  <a:pt x="1531292" y="0"/>
                </a:lnTo>
                <a:lnTo>
                  <a:pt x="153129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748622" y="7707051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748622" y="7707051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393952" y="7707051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393952" y="7707051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445598" y="2350377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925244" y="2776725"/>
            <a:ext cx="4790756" cy="5586245"/>
          </a:xfrm>
          <a:custGeom>
            <a:avLst/>
            <a:gdLst/>
            <a:ahLst/>
            <a:cxnLst/>
            <a:rect r="r" b="b" t="t" l="l"/>
            <a:pathLst>
              <a:path h="5586245" w="4790756">
                <a:moveTo>
                  <a:pt x="0" y="0"/>
                </a:moveTo>
                <a:lnTo>
                  <a:pt x="4790756" y="0"/>
                </a:lnTo>
                <a:lnTo>
                  <a:pt x="4790756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226842" y="321400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925244" y="4066699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925244" y="4066699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925244" y="4493047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925244" y="4493047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226842" y="4066699"/>
            <a:ext cx="3489158" cy="3651284"/>
          </a:xfrm>
          <a:custGeom>
            <a:avLst/>
            <a:gdLst/>
            <a:ahLst/>
            <a:cxnLst/>
            <a:rect r="r" b="b" t="t" l="l"/>
            <a:pathLst>
              <a:path h="3651284" w="3489158">
                <a:moveTo>
                  <a:pt x="0" y="0"/>
                </a:moveTo>
                <a:lnTo>
                  <a:pt x="3489158" y="0"/>
                </a:lnTo>
                <a:lnTo>
                  <a:pt x="3489158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716000" y="2776725"/>
            <a:ext cx="4364182" cy="5586245"/>
          </a:xfrm>
          <a:custGeom>
            <a:avLst/>
            <a:gdLst/>
            <a:ahLst/>
            <a:cxnLst/>
            <a:rect r="r" b="b" t="t" l="l"/>
            <a:pathLst>
              <a:path h="5586245" w="4364182">
                <a:moveTo>
                  <a:pt x="0" y="0"/>
                </a:moveTo>
                <a:lnTo>
                  <a:pt x="4364182" y="0"/>
                </a:lnTo>
                <a:lnTo>
                  <a:pt x="4364182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361330" y="2350377"/>
            <a:ext cx="3062584" cy="437279"/>
          </a:xfrm>
          <a:custGeom>
            <a:avLst/>
            <a:gdLst/>
            <a:ahLst/>
            <a:cxnLst/>
            <a:rect r="r" b="b" t="t" l="l"/>
            <a:pathLst>
              <a:path h="437279" w="3062584">
                <a:moveTo>
                  <a:pt x="0" y="0"/>
                </a:moveTo>
                <a:lnTo>
                  <a:pt x="3062584" y="0"/>
                </a:lnTo>
                <a:lnTo>
                  <a:pt x="306258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017598" y="342171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975464" y="3421712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6975464" y="3421712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017598" y="3848060"/>
            <a:ext cx="2843828" cy="3662216"/>
          </a:xfrm>
          <a:custGeom>
            <a:avLst/>
            <a:gdLst/>
            <a:ahLst/>
            <a:cxnLst/>
            <a:rect r="r" b="b" t="t" l="l"/>
            <a:pathLst>
              <a:path h="3662216" w="2843828">
                <a:moveTo>
                  <a:pt x="0" y="0"/>
                </a:moveTo>
                <a:lnTo>
                  <a:pt x="2843828" y="0"/>
                </a:lnTo>
                <a:lnTo>
                  <a:pt x="2843828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082842" y="8997026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821952" y="8997026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4134488" y="8997026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5873598" y="8997026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175196" y="8997026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706488" y="8997026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0226842" y="8997026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1528440" y="8997026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840976" y="8997026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4361330" y="8997026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5673866" y="8997026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594853" y="585350"/>
            <a:ext cx="12845144" cy="8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6"/>
              </a:lnSpc>
            </a:pPr>
            <a:r>
              <a:rPr lang="en-US" sz="5416" b="true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FROM DASHBOARD TO REQUEST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7065" y="462291"/>
            <a:ext cx="12773605" cy="121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b="true" sz="7124" spc="-69">
                <a:solidFill>
                  <a:srgbClr val="272727"/>
                </a:solidFill>
                <a:latin typeface="Avenir Bold"/>
                <a:ea typeface="Avenir Bold"/>
                <a:cs typeface="Avenir Bold"/>
                <a:sym typeface="Avenir Bold"/>
              </a:rPr>
              <a:t>FROM DATA TO DECISIONS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1705390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4086" y="2142670"/>
            <a:ext cx="6103292" cy="7291635"/>
          </a:xfrm>
          <a:custGeom>
            <a:avLst/>
            <a:gdLst/>
            <a:ahLst/>
            <a:cxnLst/>
            <a:rect r="r" b="b" t="t" l="l"/>
            <a:pathLst>
              <a:path h="7291635" w="6103292">
                <a:moveTo>
                  <a:pt x="0" y="0"/>
                </a:moveTo>
                <a:lnTo>
                  <a:pt x="6103292" y="0"/>
                </a:lnTo>
                <a:lnTo>
                  <a:pt x="6103292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37868" y="2677130"/>
            <a:ext cx="5137929" cy="54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b="true" sz="3234" spc="-31">
                <a:solidFill>
                  <a:srgbClr val="272727"/>
                </a:solidFill>
                <a:latin typeface="Avenir Bold"/>
                <a:ea typeface="Avenir Bold"/>
                <a:cs typeface="Avenir Bold"/>
                <a:sym typeface="Avenir Bold"/>
              </a:rPr>
              <a:t>DATABASE OPERATIONS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2842" y="3214004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68699" y="3797169"/>
            <a:ext cx="2324368" cy="6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b="true" sz="3616" spc="-35">
                <a:solidFill>
                  <a:srgbClr val="BB9B77"/>
                </a:solidFill>
                <a:latin typeface="Avenir Bold"/>
                <a:ea typeface="Avenir Bold"/>
                <a:cs typeface="Avenir Bold"/>
                <a:sym typeface="Avenir Bold"/>
              </a:rPr>
              <a:t>CREATE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4185" y="4595393"/>
            <a:ext cx="1613669" cy="6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b="true" sz="3616" spc="-35">
                <a:solidFill>
                  <a:srgbClr val="BB9B77"/>
                </a:solidFill>
                <a:latin typeface="Avenir Bold"/>
                <a:ea typeface="Avenir Bold"/>
                <a:cs typeface="Avenir Bold"/>
                <a:sym typeface="Avenir Bold"/>
              </a:rPr>
              <a:t>READ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8237" y="5408679"/>
            <a:ext cx="2220921" cy="6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b="true" sz="3616" spc="-35">
                <a:solidFill>
                  <a:srgbClr val="BB9B77"/>
                </a:solidFill>
                <a:latin typeface="Avenir Bold"/>
                <a:ea typeface="Avenir Bold"/>
                <a:cs typeface="Avenir Bold"/>
                <a:sym typeface="Avenir Bold"/>
              </a:rPr>
              <a:t>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9693" y="6206903"/>
            <a:ext cx="1840911" cy="6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b="true" sz="3616" spc="-35">
                <a:solidFill>
                  <a:srgbClr val="BB9B77"/>
                </a:solidFill>
                <a:latin typeface="Avenir Bold"/>
                <a:ea typeface="Avenir Bold"/>
                <a:cs typeface="Avenir Bold"/>
                <a:sym typeface="Avenir Bold"/>
              </a:rPr>
              <a:t>DELETE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82842" y="7062064"/>
            <a:ext cx="5020450" cy="229572"/>
          </a:xfrm>
          <a:custGeom>
            <a:avLst/>
            <a:gdLst/>
            <a:ahLst/>
            <a:cxnLst/>
            <a:rect r="r" b="b" t="t" l="l"/>
            <a:pathLst>
              <a:path h="229572" w="5020450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875" y="7453012"/>
            <a:ext cx="5089922" cy="131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46" b="true">
                <a:solidFill>
                  <a:srgbClr val="3D3D3D"/>
                </a:solidFill>
                <a:latin typeface="Avenir Medium"/>
                <a:ea typeface="Avenir Medium"/>
                <a:cs typeface="Avenir Medium"/>
                <a:sym typeface="Avenir Medium"/>
              </a:rPr>
              <a:t>Examples: Request creation, viewing, technician assignment, status updates, work material records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956440" y="2142670"/>
            <a:ext cx="5676718" cy="7291635"/>
          </a:xfrm>
          <a:custGeom>
            <a:avLst/>
            <a:gdLst/>
            <a:ahLst/>
            <a:cxnLst/>
            <a:rect r="r" b="b" t="t" l="l"/>
            <a:pathLst>
              <a:path h="7291635" w="5676718">
                <a:moveTo>
                  <a:pt x="0" y="0"/>
                </a:moveTo>
                <a:lnTo>
                  <a:pt x="5676718" y="0"/>
                </a:lnTo>
                <a:lnTo>
                  <a:pt x="5676718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531636" y="2677130"/>
            <a:ext cx="2733490" cy="54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b="true" sz="3234" spc="-31">
                <a:solidFill>
                  <a:srgbClr val="272727"/>
                </a:solidFill>
                <a:latin typeface="Avenir Bold"/>
                <a:ea typeface="Avenir Bold"/>
                <a:cs typeface="Avenir Bold"/>
                <a:sym typeface="Avenir Bold"/>
              </a:rPr>
              <a:t>REPORTING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393952" y="3214004"/>
            <a:ext cx="2625072" cy="437279"/>
          </a:xfrm>
          <a:custGeom>
            <a:avLst/>
            <a:gdLst/>
            <a:ahLst/>
            <a:cxnLst/>
            <a:rect r="r" b="b" t="t" l="l"/>
            <a:pathLst>
              <a:path h="437279" w="2625072">
                <a:moveTo>
                  <a:pt x="0" y="0"/>
                </a:moveTo>
                <a:lnTo>
                  <a:pt x="2625072" y="0"/>
                </a:lnTo>
                <a:lnTo>
                  <a:pt x="262507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524650" y="3729490"/>
            <a:ext cx="2986519" cy="55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55" b="true">
                <a:solidFill>
                  <a:srgbClr val="3D3D3D"/>
                </a:solidFill>
                <a:latin typeface="Avenir Medium"/>
                <a:ea typeface="Avenir Medium"/>
                <a:cs typeface="Avenir Medium"/>
                <a:sym typeface="Avenir Medium"/>
              </a:rPr>
              <a:t>Pending Requests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19599" y="4527715"/>
            <a:ext cx="3491683" cy="55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55" b="true">
                <a:solidFill>
                  <a:srgbClr val="3D3D3D"/>
                </a:solidFill>
                <a:latin typeface="Avenir Medium"/>
                <a:ea typeface="Avenir Medium"/>
                <a:cs typeface="Avenir Medium"/>
                <a:sym typeface="Avenir Medium"/>
              </a:rPr>
              <a:t>Technician Workload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15949" y="5341000"/>
            <a:ext cx="3856678" cy="55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55" b="true">
                <a:solidFill>
                  <a:srgbClr val="3D3D3D"/>
                </a:solidFill>
                <a:latin typeface="Avenir Medium"/>
                <a:ea typeface="Avenir Medium"/>
                <a:cs typeface="Avenir Medium"/>
                <a:sym typeface="Avenir Medium"/>
              </a:rPr>
              <a:t>Building Request Count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29786" y="6139225"/>
            <a:ext cx="2472991" cy="55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55" b="true">
                <a:solidFill>
                  <a:srgbClr val="3D3D3D"/>
                </a:solidFill>
                <a:latin typeface="Avenir Medium"/>
                <a:ea typeface="Avenir Medium"/>
                <a:cs typeface="Avenir Medium"/>
                <a:sym typeface="Avenir Medium"/>
              </a:rPr>
              <a:t>Material Usage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24517" y="6937449"/>
            <a:ext cx="2999860" cy="55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55" b="true">
                <a:solidFill>
                  <a:srgbClr val="3D3D3D"/>
                </a:solidFill>
                <a:latin typeface="Avenir Medium"/>
                <a:ea typeface="Avenir Medium"/>
                <a:cs typeface="Avenir Medium"/>
                <a:sym typeface="Avenir Medium"/>
              </a:rPr>
              <a:t>Maintenance Cost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38219" y="7735674"/>
            <a:ext cx="1629692" cy="55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55" b="true">
                <a:solidFill>
                  <a:srgbClr val="3D3D3D"/>
                </a:solidFill>
                <a:latin typeface="Avenir Medium"/>
                <a:ea typeface="Avenir Medium"/>
                <a:cs typeface="Avenir Medium"/>
                <a:sym typeface="Avenir Medium"/>
              </a:rPr>
              <a:t>Feedback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403464" y="2350377"/>
            <a:ext cx="5457962" cy="6438940"/>
          </a:xfrm>
          <a:custGeom>
            <a:avLst/>
            <a:gdLst/>
            <a:ahLst/>
            <a:cxnLst/>
            <a:rect r="r" b="b" t="t" l="l"/>
            <a:pathLst>
              <a:path h="6438940" w="5457962">
                <a:moveTo>
                  <a:pt x="0" y="0"/>
                </a:moveTo>
                <a:lnTo>
                  <a:pt x="5457962" y="0"/>
                </a:lnTo>
                <a:lnTo>
                  <a:pt x="5457962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789330" y="8133399"/>
            <a:ext cx="8498670" cy="2153601"/>
          </a:xfrm>
          <a:custGeom>
            <a:avLst/>
            <a:gdLst/>
            <a:ahLst/>
            <a:cxnLst/>
            <a:rect r="r" b="b" t="t" l="l"/>
            <a:pathLst>
              <a:path h="2153601" w="8498670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9552" y="720298"/>
            <a:ext cx="9099743" cy="102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5"/>
              </a:lnSpc>
            </a:pPr>
            <a:r>
              <a:rPr lang="en-US" b="true" sz="6785" spc="66">
                <a:solidFill>
                  <a:srgbClr val="373737"/>
                </a:solidFill>
                <a:latin typeface="Avenir Bold"/>
                <a:ea typeface="Avenir Bold"/>
                <a:cs typeface="Avenir Bold"/>
                <a:sym typeface="Avenir Bold"/>
              </a:rPr>
              <a:t>TESTED END TO END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705390"/>
            <a:ext cx="9154938" cy="229572"/>
          </a:xfrm>
          <a:custGeom>
            <a:avLst/>
            <a:gdLst/>
            <a:ahLst/>
            <a:cxnLst/>
            <a:rect r="r" b="b" t="t" l="l"/>
            <a:pathLst>
              <a:path h="229572" w="9154938">
                <a:moveTo>
                  <a:pt x="0" y="0"/>
                </a:moveTo>
                <a:lnTo>
                  <a:pt x="9154938" y="0"/>
                </a:lnTo>
                <a:lnTo>
                  <a:pt x="915493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4642" y="3553444"/>
            <a:ext cx="5866233" cy="346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0"/>
              </a:lnSpc>
            </a:pPr>
            <a:r>
              <a:rPr lang="en-US" sz="4170" spc="-40">
                <a:solidFill>
                  <a:srgbClr val="373737"/>
                </a:solidFill>
                <a:latin typeface="Avenir"/>
                <a:ea typeface="Avenir"/>
                <a:cs typeface="Avenir"/>
                <a:sym typeface="Avenir"/>
              </a:rPr>
              <a:t>From request creation to closure, the complete workflow was tested with the connected MySQL database.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175196" y="2350377"/>
            <a:ext cx="229694" cy="6865288"/>
          </a:xfrm>
          <a:custGeom>
            <a:avLst/>
            <a:gdLst/>
            <a:ahLst/>
            <a:cxnLst/>
            <a:rect r="r" b="b" t="t" l="l"/>
            <a:pathLst>
              <a:path h="6865288" w="229694">
                <a:moveTo>
                  <a:pt x="0" y="0"/>
                </a:moveTo>
                <a:lnTo>
                  <a:pt x="229694" y="0"/>
                </a:lnTo>
                <a:lnTo>
                  <a:pt x="22969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31464" y="2350377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97685" y="2440146"/>
            <a:ext cx="2839357" cy="3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D4D4D"/>
                </a:solidFill>
                <a:latin typeface="Avenir"/>
                <a:ea typeface="Avenir"/>
                <a:cs typeface="Avenir"/>
                <a:sym typeface="Avenir"/>
              </a:rPr>
              <a:t>Database Connection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31464" y="2995365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31464" y="3640352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31464" y="4285339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95040" y="4428177"/>
            <a:ext cx="3103828" cy="3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D4D4D"/>
                </a:solidFill>
                <a:latin typeface="Avenir"/>
                <a:ea typeface="Avenir"/>
                <a:cs typeface="Avenir"/>
                <a:sym typeface="Avenir"/>
              </a:rPr>
              <a:t>Technician Assignment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31464" y="513803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607401" y="5075793"/>
            <a:ext cx="1867752" cy="3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D4D4D"/>
                </a:solidFill>
                <a:latin typeface="Avenir"/>
                <a:ea typeface="Avenir"/>
                <a:cs typeface="Avenir"/>
                <a:sym typeface="Avenir"/>
              </a:rPr>
              <a:t>Status Update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31464" y="5783021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613504" y="5753531"/>
            <a:ext cx="1257424" cy="72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D4D4D"/>
                </a:solidFill>
                <a:latin typeface="Avenir"/>
                <a:ea typeface="Avenir"/>
                <a:cs typeface="Avenir"/>
                <a:sym typeface="Avenir"/>
              </a:rPr>
              <a:t>Work Log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831464" y="642800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606189" y="6431269"/>
            <a:ext cx="1988869" cy="3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D4D4D"/>
                </a:solidFill>
                <a:latin typeface="Avenir"/>
                <a:ea typeface="Avenir"/>
                <a:cs typeface="Avenir"/>
                <a:sym typeface="Avenir"/>
              </a:rPr>
              <a:t>Material Usage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831464" y="706206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604409" y="7078885"/>
            <a:ext cx="2166913" cy="3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D4D4D"/>
                </a:solidFill>
                <a:latin typeface="Avenir"/>
                <a:ea typeface="Avenir"/>
                <a:cs typeface="Avenir"/>
                <a:sym typeface="Avenir"/>
              </a:rPr>
              <a:t>Request Closure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831464" y="7707051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613225" y="7756623"/>
            <a:ext cx="1285294" cy="3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D4D4D"/>
                </a:solidFill>
                <a:latin typeface="Avenir"/>
                <a:ea typeface="Avenir"/>
                <a:cs typeface="Avenir"/>
                <a:sym typeface="Avenir"/>
              </a:rPr>
              <a:t>Feedback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831464" y="8352038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664354" y="2776725"/>
            <a:ext cx="7197072" cy="6231233"/>
          </a:xfrm>
          <a:custGeom>
            <a:avLst/>
            <a:gdLst/>
            <a:ahLst/>
            <a:cxnLst/>
            <a:rect r="r" b="b" t="t" l="l"/>
            <a:pathLst>
              <a:path h="6231233" w="7197072">
                <a:moveTo>
                  <a:pt x="0" y="0"/>
                </a:moveTo>
                <a:lnTo>
                  <a:pt x="7197072" y="0"/>
                </a:lnTo>
                <a:lnTo>
                  <a:pt x="7197072" y="6231232"/>
                </a:lnTo>
                <a:lnTo>
                  <a:pt x="0" y="62312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017598" y="7925691"/>
            <a:ext cx="3270402" cy="2153601"/>
          </a:xfrm>
          <a:custGeom>
            <a:avLst/>
            <a:gdLst/>
            <a:ahLst/>
            <a:cxnLst/>
            <a:rect r="r" b="b" t="t" l="l"/>
            <a:pathLst>
              <a:path h="2153601" w="3270402">
                <a:moveTo>
                  <a:pt x="0" y="0"/>
                </a:moveTo>
                <a:lnTo>
                  <a:pt x="3270402" y="0"/>
                </a:lnTo>
                <a:lnTo>
                  <a:pt x="327040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631732" y="4493047"/>
            <a:ext cx="656268" cy="3224936"/>
          </a:xfrm>
          <a:custGeom>
            <a:avLst/>
            <a:gdLst/>
            <a:ahLst/>
            <a:cxnLst/>
            <a:rect r="r" b="b" t="t" l="l"/>
            <a:pathLst>
              <a:path h="3224936" w="656268">
                <a:moveTo>
                  <a:pt x="0" y="0"/>
                </a:moveTo>
                <a:lnTo>
                  <a:pt x="656268" y="0"/>
                </a:lnTo>
                <a:lnTo>
                  <a:pt x="65626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100440" y="8352038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603359" y="3087762"/>
            <a:ext cx="2271871" cy="3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D4D4D"/>
                </a:solidFill>
                <a:latin typeface="Avenir"/>
                <a:ea typeface="Avenir"/>
                <a:cs typeface="Avenir"/>
                <a:sym typeface="Avenir"/>
              </a:rPr>
              <a:t>Request Creation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05685" y="3765500"/>
            <a:ext cx="2039272" cy="3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D4D4D"/>
                </a:solidFill>
                <a:latin typeface="Avenir"/>
                <a:ea typeface="Avenir"/>
                <a:cs typeface="Avenir"/>
                <a:sym typeface="Avenir"/>
              </a:rPr>
              <a:t>Request Listing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15788" y="8419300"/>
            <a:ext cx="1028976" cy="3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D4D4D"/>
                </a:solidFill>
                <a:latin typeface="Avenir"/>
                <a:ea typeface="Avenir"/>
                <a:cs typeface="Avenir"/>
                <a:sym typeface="Avenir"/>
              </a:rPr>
              <a:t>Reports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1141" y="535970"/>
            <a:ext cx="15470957" cy="10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b="true" sz="6845" spc="-137">
                <a:solidFill>
                  <a:srgbClr val="2B2B2B"/>
                </a:solidFill>
                <a:latin typeface="Avenir Bold"/>
                <a:ea typeface="Avenir Bold"/>
                <a:cs typeface="Avenir Bold"/>
                <a:sym typeface="Avenir Bold"/>
              </a:rPr>
              <a:t>FROM COMPLAINT TO COMPLETION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497682"/>
            <a:ext cx="5239206" cy="218640"/>
          </a:xfrm>
          <a:custGeom>
            <a:avLst/>
            <a:gdLst/>
            <a:ahLst/>
            <a:cxnLst/>
            <a:rect r="r" b="b" t="t" l="l"/>
            <a:pathLst>
              <a:path h="218640" w="5239206">
                <a:moveTo>
                  <a:pt x="0" y="0"/>
                </a:moveTo>
                <a:lnTo>
                  <a:pt x="5239206" y="0"/>
                </a:lnTo>
                <a:lnTo>
                  <a:pt x="523920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2350377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2683653"/>
            <a:ext cx="1982391" cy="34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 spc="-47">
                <a:solidFill>
                  <a:srgbClr val="4D4D4D"/>
                </a:solidFill>
                <a:latin typeface="Avenir Bold"/>
                <a:ea typeface="Avenir Bold"/>
                <a:cs typeface="Avenir Bold"/>
                <a:sym typeface="Avenir Bold"/>
              </a:rPr>
              <a:t>REPORT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040708" y="256901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78220" y="2350377"/>
            <a:ext cx="2625072" cy="1082267"/>
          </a:xfrm>
          <a:custGeom>
            <a:avLst/>
            <a:gdLst/>
            <a:ahLst/>
            <a:cxnLst/>
            <a:rect r="r" b="b" t="t" l="l"/>
            <a:pathLst>
              <a:path h="1082267" w="2625072">
                <a:moveTo>
                  <a:pt x="0" y="0"/>
                </a:moveTo>
                <a:lnTo>
                  <a:pt x="2625072" y="0"/>
                </a:lnTo>
                <a:lnTo>
                  <a:pt x="2625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04047" y="2683653"/>
            <a:ext cx="1982391" cy="34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 spc="-47">
                <a:solidFill>
                  <a:srgbClr val="4D4D4D"/>
                </a:solidFill>
                <a:latin typeface="Avenir Bold"/>
                <a:ea typeface="Avenir Bold"/>
                <a:cs typeface="Avenir Bold"/>
                <a:sym typeface="Avenir Bold"/>
              </a:rPr>
              <a:t>ASSIGN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873598" y="256901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29866" y="2350377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24055" y="2683653"/>
            <a:ext cx="1982391" cy="34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 spc="-47">
                <a:solidFill>
                  <a:srgbClr val="4D4D4D"/>
                </a:solidFill>
                <a:latin typeface="Avenir Bold"/>
                <a:ea typeface="Avenir Bold"/>
                <a:cs typeface="Avenir Bold"/>
                <a:sym typeface="Avenir Bold"/>
              </a:rPr>
              <a:t>REPAIR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706488" y="2569017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51818" y="2350377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747196" y="256901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184708" y="2350377"/>
            <a:ext cx="2625072" cy="1082267"/>
          </a:xfrm>
          <a:custGeom>
            <a:avLst/>
            <a:gdLst/>
            <a:ahLst/>
            <a:cxnLst/>
            <a:rect r="r" b="b" t="t" l="l"/>
            <a:pathLst>
              <a:path h="1082267" w="2625072">
                <a:moveTo>
                  <a:pt x="0" y="0"/>
                </a:moveTo>
                <a:lnTo>
                  <a:pt x="2625072" y="0"/>
                </a:lnTo>
                <a:lnTo>
                  <a:pt x="2625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80086" y="256901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36354" y="2350377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457289" y="2683653"/>
            <a:ext cx="1982391" cy="34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 spc="-47">
                <a:solidFill>
                  <a:srgbClr val="4D4D4D"/>
                </a:solidFill>
                <a:latin typeface="Avenir Bold"/>
                <a:ea typeface="Avenir Bold"/>
                <a:cs typeface="Avenir Bold"/>
                <a:sym typeface="Avenir Bold"/>
              </a:rPr>
              <a:t>IMPROVE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45330" y="3640352"/>
            <a:ext cx="16997340" cy="2153601"/>
          </a:xfrm>
          <a:custGeom>
            <a:avLst/>
            <a:gdLst/>
            <a:ahLst/>
            <a:cxnLst/>
            <a:rect r="r" b="b" t="t" l="l"/>
            <a:pathLst>
              <a:path h="2153601" w="16997340">
                <a:moveTo>
                  <a:pt x="0" y="0"/>
                </a:moveTo>
                <a:lnTo>
                  <a:pt x="16997340" y="0"/>
                </a:lnTo>
                <a:lnTo>
                  <a:pt x="16997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21177" y="3951079"/>
            <a:ext cx="11545049" cy="128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7"/>
              </a:lnSpc>
            </a:pPr>
            <a:r>
              <a:rPr lang="en-US" sz="3304" spc="-66">
                <a:solidFill>
                  <a:srgbClr val="2B2B2B"/>
                </a:solidFill>
                <a:latin typeface="Avenir"/>
                <a:ea typeface="Avenir"/>
                <a:cs typeface="Avenir"/>
                <a:sym typeface="Avenir"/>
              </a:rPr>
              <a:t>Our system transforms campus maintenance</a:t>
            </a:r>
          </a:p>
          <a:p>
            <a:pPr algn="ctr">
              <a:lnSpc>
                <a:spcPts val="4957"/>
              </a:lnSpc>
            </a:pPr>
            <a:r>
              <a:rPr lang="en-US" sz="3304" spc="-66">
                <a:solidFill>
                  <a:srgbClr val="2B2B2B"/>
                </a:solidFill>
                <a:latin typeface="Avenir"/>
                <a:ea typeface="Avenir"/>
                <a:cs typeface="Avenir"/>
                <a:sym typeface="Avenir"/>
              </a:rPr>
              <a:t>into a structured, trackable and database-driven workflow.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5691" y="6268601"/>
            <a:ext cx="2668207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49">
                <a:solidFill>
                  <a:srgbClr val="B68A57"/>
                </a:solidFill>
                <a:latin typeface="Avenir Bold"/>
                <a:ea typeface="Avenir Bold"/>
                <a:cs typeface="Avenir Bold"/>
                <a:sym typeface="Avenir Bold"/>
              </a:rPr>
              <a:t>PYTHON + FLASK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572000" y="5990729"/>
            <a:ext cx="218756" cy="1082267"/>
          </a:xfrm>
          <a:custGeom>
            <a:avLst/>
            <a:gdLst/>
            <a:ahLst/>
            <a:cxnLst/>
            <a:rect r="r" b="b" t="t" l="l"/>
            <a:pathLst>
              <a:path h="1082267" w="218756">
                <a:moveTo>
                  <a:pt x="0" y="0"/>
                </a:moveTo>
                <a:lnTo>
                  <a:pt x="218756" y="0"/>
                </a:lnTo>
                <a:lnTo>
                  <a:pt x="21875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762708" y="6268601"/>
            <a:ext cx="1103483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49">
                <a:solidFill>
                  <a:srgbClr val="B68A57"/>
                </a:solidFill>
                <a:latin typeface="Avenir Bold"/>
                <a:ea typeface="Avenir Bold"/>
                <a:cs typeface="Avenir Bold"/>
                <a:sym typeface="Avenir Bold"/>
              </a:rPr>
              <a:t>MYSQL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7831464" y="599072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410734" y="6268601"/>
            <a:ext cx="3718241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49">
                <a:solidFill>
                  <a:srgbClr val="B68A57"/>
                </a:solidFill>
                <a:latin typeface="Avenir Bold"/>
                <a:ea typeface="Avenir Bold"/>
                <a:cs typeface="Avenir Bold"/>
                <a:sym typeface="Avenir Bold"/>
              </a:rPr>
              <a:t>13 RELATIONAL TABLES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403464" y="5990729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093008" y="6268601"/>
            <a:ext cx="4288686" cy="36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49">
                <a:solidFill>
                  <a:srgbClr val="B68A57"/>
                </a:solidFill>
                <a:latin typeface="Avenir Bold"/>
                <a:ea typeface="Avenir Bold"/>
                <a:cs typeface="Avenir Bold"/>
                <a:sym typeface="Avenir Bold"/>
              </a:rPr>
              <a:t>WORKING WEB PROTOTYPE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11691" y="7584653"/>
            <a:ext cx="4111703" cy="76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 spc="-100">
                <a:solidFill>
                  <a:srgbClr val="3B3B3B"/>
                </a:solidFill>
                <a:latin typeface="Avenir Bold"/>
                <a:ea typeface="Avenir Bold"/>
                <a:cs typeface="Avenir Bold"/>
                <a:sym typeface="Avenir Bold"/>
              </a:rPr>
              <a:t>THANK YOU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7831464" y="8352038"/>
            <a:ext cx="2406316" cy="229572"/>
          </a:xfrm>
          <a:custGeom>
            <a:avLst/>
            <a:gdLst/>
            <a:ahLst/>
            <a:cxnLst/>
            <a:rect r="r" b="b" t="t" l="l"/>
            <a:pathLst>
              <a:path h="229572" w="2406316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004521" y="8644693"/>
            <a:ext cx="2080540" cy="60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8"/>
              </a:lnSpc>
            </a:pPr>
            <a:r>
              <a:rPr lang="en-US" b="true" sz="3032" spc="-60">
                <a:solidFill>
                  <a:srgbClr val="3B3B3B"/>
                </a:solidFill>
                <a:latin typeface="Avenir Medium"/>
                <a:ea typeface="Avenir Medium"/>
                <a:cs typeface="Avenir Medium"/>
                <a:sym typeface="Avenir Medium"/>
              </a:rPr>
              <a:t>Questions?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44594" y="9332932"/>
            <a:ext cx="6800395" cy="56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b="true" sz="2896" spc="-57">
                <a:solidFill>
                  <a:srgbClr val="B68A57"/>
                </a:solidFill>
                <a:latin typeface="Avenir Medium"/>
                <a:ea typeface="Avenir Medium"/>
                <a:cs typeface="Avenir Medium"/>
                <a:sym typeface="Avenir Medium"/>
              </a:rPr>
              <a:t>Pranav  •  Purva  •  Sharanya  •  Saathvik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44062" y="2683653"/>
            <a:ext cx="1982391" cy="34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 spc="-47">
                <a:solidFill>
                  <a:srgbClr val="4D4D4D"/>
                </a:solidFill>
                <a:latin typeface="Avenir Bold"/>
                <a:ea typeface="Avenir Bold"/>
                <a:cs typeface="Avenir Bold"/>
                <a:sym typeface="Avenir Bold"/>
              </a:rPr>
              <a:t>TRACK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37281" y="2683653"/>
            <a:ext cx="1982391" cy="34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 spc="-47">
                <a:solidFill>
                  <a:srgbClr val="4D4D4D"/>
                </a:solidFill>
                <a:latin typeface="Avenir Bold"/>
                <a:ea typeface="Avenir Bold"/>
                <a:cs typeface="Avenir Bold"/>
                <a:sym typeface="Avenir Bold"/>
              </a:rPr>
              <a:t>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DAHXN78xdko</dc:identifier>
  <dcterms:modified xsi:type="dcterms:W3CDTF">2011-08-01T06:04:30Z</dcterms:modified>
  <cp:revision>1</cp:revision>
  <dc:title>Campus Maintenance DBMS</dc:title>
</cp:coreProperties>
</file>